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" charset="1" panose="00000500000000000000"/>
      <p:regular r:id="rId20"/>
    </p:embeddedFont>
    <p:embeddedFont>
      <p:font typeface="Poppins Bold" charset="1" panose="00000800000000000000"/>
      <p:regular r:id="rId21"/>
    </p:embeddedFont>
    <p:embeddedFont>
      <p:font typeface="DM Sans Bold" charset="1" panose="00000000000000000000"/>
      <p:regular r:id="rId22"/>
    </p:embeddedFont>
    <p:embeddedFont>
      <p:font typeface="Glacial Indifference Bold" charset="1" panose="00000800000000000000"/>
      <p:regular r:id="rId23"/>
    </p:embeddedFont>
    <p:embeddedFont>
      <p:font typeface="DM Sans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Ahmed Samin Yasar (230041113)</a:t>
            </a:r>
          </a:p>
          <a:p>
            <a:r>
              <a:t>TIME: 0:00 - 0:30 (30s)</a:t>
            </a:r>
          </a:p>
          <a:p/>
          <a:p>
            <a:r>
              <a:t>TALKING POINTS:</a:t>
            </a:r>
          </a:p>
          <a:p>
            <a:r>
              <a:t>- Good morning respected teachers and peers. We are Group 'Go With The Flow' from Section 1A.</a:t>
            </a:r>
          </a:p>
          <a:p>
            <a:r>
              <a:t>- Today, we present our final project for CSE 4408 (System Analysis and Design Lab): The 'Disease Spread Prevention System'.</a:t>
            </a:r>
          </a:p>
          <a:p>
            <a:r>
              <a:t>- Team members: Ahmed Samin Yasar, Mahir Labib, Abrar Faiyaz, and Ashique Khan.</a:t>
            </a:r>
          </a:p>
          <a:p>
            <a:r>
              <a:t>- In this 8-minute presentation, we will walk you through our organizational analysis, feasibility, DFD architecture, working input prototypes, and real-time outbreak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Ahmed Samin Yasar (230041113)</a:t>
            </a:r>
          </a:p>
          <a:p>
            <a:r>
              <a:t>TIME: 0:30 - 1:00 (30s)</a:t>
            </a:r>
          </a:p>
          <a:p/>
          <a:p>
            <a:r>
              <a:t>TALKING POINTS:</a:t>
            </a:r>
          </a:p>
          <a:p>
            <a:r>
              <a:t>- The Disease Spread Prevention System is engineered specifically for university campuses like IUT.</a:t>
            </a:r>
          </a:p>
          <a:p>
            <a:r>
              <a:t>- Its core mission is twofold: proactively prevent contagious viral disease outbreaks among residential students, and provide streamlined digital recovery support for ill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Ahmed Samin Yasar (230041113)</a:t>
            </a:r>
          </a:p>
          <a:p>
            <a:r>
              <a:t>TIME: 1:00 - 1:30 (30s)</a:t>
            </a:r>
          </a:p>
          <a:p/>
          <a:p>
            <a:r>
              <a:t>TALKING POINTS:</a:t>
            </a:r>
          </a:p>
          <a:p>
            <a:r>
              <a:t>- IUT is a dense residential institution where thousands of students share dormitories, dining halls, and classrooms.</a:t>
            </a:r>
          </a:p>
          <a:p>
            <a:r>
              <a:t>- Currently, medical records and symptom reports are processed manually or offline, creating critical lag between an initial infection and campus-wide isolation.</a:t>
            </a:r>
          </a:p>
          <a:p>
            <a:r>
              <a:t>- Our system bridges the Medical Center, Hall Provosts, and Students into an integrated digital surveillance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Ahmed Samin Yasar (230041113)</a:t>
            </a:r>
          </a:p>
          <a:p>
            <a:r>
              <a:t>TIME: 1:30 - 2:00 (30s)</a:t>
            </a:r>
          </a:p>
          <a:p/>
          <a:p>
            <a:r>
              <a:t>TALKING POINTS:</a:t>
            </a:r>
          </a:p>
          <a:p>
            <a:r>
              <a:t>- Our problem analysis identified 4 major operational bottlenecks:</a:t>
            </a:r>
          </a:p>
          <a:p>
            <a:r>
              <a:t>- 1. Paper-based data fragmentation at the clinic.</a:t>
            </a:r>
          </a:p>
          <a:p>
            <a:r>
              <a:t>- 2. Delayed outbreak detection across dormitory floors.</a:t>
            </a:r>
          </a:p>
          <a:p>
            <a:r>
              <a:t>- 3. Unverified external doctor certificates.</a:t>
            </a:r>
          </a:p>
          <a:p>
            <a:r>
              <a:t>- 4. Slow manual communication between medical staff and hall authorities.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Ahmed Samin Yasar (230041113)</a:t>
            </a:r>
          </a:p>
          <a:p>
            <a:r>
              <a:t>TIME: 2:00 - 2:30 (30s)</a:t>
            </a:r>
          </a:p>
          <a:p/>
          <a:p>
            <a:r>
              <a:t>TALKING POINTS:</a:t>
            </a:r>
          </a:p>
          <a:p>
            <a:r>
              <a:t>- In response, we designed 4 targeted objectives: real-time self-reporting, dual-pane doctor verification, automated spatial cluster detection, and targeted dynamic notifications.</a:t>
            </a:r>
          </a:p>
          <a:p/>
          <a:p>
            <a:r>
              <a:t>TRANSITION: I now pass the presentation to Mahir Labib to discuss Information Gathering and System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Mahir Labib (230041139)</a:t>
            </a:r>
          </a:p>
          <a:p>
            <a:r>
              <a:t>TIME: 2:30 - 3:00 (30s)</a:t>
            </a:r>
          </a:p>
          <a:p/>
          <a:p>
            <a:r>
              <a:t>TALKING POINTS:</a:t>
            </a:r>
          </a:p>
          <a:p>
            <a:r>
              <a:t>- Thank you, Samin. Our feasibility study confirmed that the system is technically lightweight, economically high-ROI, and operationally effortless for students and medical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Mahir Labib (230041139)</a:t>
            </a:r>
          </a:p>
          <a:p>
            <a:r>
              <a:t>TIME: 3:00 - 3:30 (30s)</a:t>
            </a:r>
          </a:p>
          <a:p/>
          <a:p>
            <a:r>
              <a:t>TALKING POINTS:</a:t>
            </a:r>
          </a:p>
          <a:p>
            <a:r>
              <a:t>- In Labs 5 and 6, we combined interactive stakeholder interviews and student surveys with unobtrusive sampling of 6 months of clinic logbooks and leave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Mahir Labib (230041139)</a:t>
            </a:r>
          </a:p>
          <a:p>
            <a:r>
              <a:t>TIME: 3:30 - 4:00 (30s)</a:t>
            </a:r>
          </a:p>
          <a:p/>
          <a:p>
            <a:r>
              <a:t>TALKING POINTS:</a:t>
            </a:r>
          </a:p>
          <a:p>
            <a:r>
              <a:t>- We established 5 core functional requirements covering profile registration, symptom ingestion, doctor verification, notification generation, and outbreak analytics, bounded by HIPAA-aligned privacy and sub-200ms validation.</a:t>
            </a:r>
          </a:p>
          <a:p/>
          <a:p>
            <a:r>
              <a:t>TRANSITION: I will now hand over to Abrar Faiyaz to present our System Modeling and Architectural Designs.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Abrar Faiyaz (230041143)</a:t>
            </a:r>
          </a:p>
          <a:p>
            <a:r>
              <a:t>TIME: 4:00 - 4:35 (35s)</a:t>
            </a:r>
          </a:p>
          <a:p/>
          <a:p>
            <a:r>
              <a:t>TALKING POINTS:</a:t>
            </a:r>
          </a:p>
          <a:p>
            <a:r>
              <a:t>- Thank you, Mahir. In Level 0 DFD (Context Diagram), Process 0.0 establishes the system boundary interacting with 4 key external entities: Students, Medical Staff, Dorm Authorities, and University Authorities.</a:t>
            </a:r>
          </a:p>
          <a:p>
            <a:r>
              <a:t>- Data captured from students is processed into verified clinical records and strategic outbreak telemetry for campus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Abrar Faiyaz (230041143)</a:t>
            </a:r>
          </a:p>
          <a:p>
            <a:r>
              <a:t>TIME: 4:35 - 5:10 (35s)</a:t>
            </a:r>
          </a:p>
          <a:p/>
          <a:p>
            <a:r>
              <a:t>TALKING POINTS:</a:t>
            </a:r>
          </a:p>
          <a:p>
            <a:r>
              <a:t>- In Level 1 DFD, we decomposed the architecture into 5 sub-processes and 3 decoupled data stores: D1 (Student Info), D2 (Medical Records), and D3 (Analyzed Outbreak Data).</a:t>
            </a:r>
          </a:p>
          <a:p>
            <a:r>
              <a:t>- This segregation ensures strict medical privacy while enabling high-throughput dashboard analytics.</a:t>
            </a:r>
          </a:p>
          <a:p/>
          <a:p>
            <a:r>
              <a:t>TRANSITION: I will now hand over to Ashique Khan to present our Working UI Prototypes and System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Ashique Khan (230041153)</a:t>
            </a:r>
          </a:p>
          <a:p>
            <a:r>
              <a:t>TIME: 5:10 - 5:45 (35s)</a:t>
            </a:r>
          </a:p>
          <a:p/>
          <a:p>
            <a:r>
              <a:t>TALKING POINTS:</a:t>
            </a:r>
          </a:p>
          <a:p>
            <a:r>
              <a:t>- Thank you, Abrar. In Lab 12, our team implemented 4 working interactive prototypes.</a:t>
            </a:r>
          </a:p>
          <a:p>
            <a:r>
              <a:t>- Screen 1 handles Student Registration. It dynamically displays dormitory and room fields only when 'Resident' is toggled, and enforces sub-second regex validation on student email and contact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Ashique Khan (230041153)</a:t>
            </a:r>
          </a:p>
          <a:p>
            <a:r>
              <a:t>TIME: 5:45 - 6:20 (35s)</a:t>
            </a:r>
          </a:p>
          <a:p/>
          <a:p>
            <a:r>
              <a:t>TALKING POINTS:</a:t>
            </a:r>
          </a:p>
          <a:p>
            <a:r>
              <a:t>- Screen 2 is our External Symptom Submission form. It features multi-select symptom chips, a 1-10 severity slider, and a drag-and-drop file uploader that dynamically becomes mandatory when symptoms are marked severe.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Ashique Khan (230041153)</a:t>
            </a:r>
          </a:p>
          <a:p>
            <a:r>
              <a:t>TIME: 6:20 - 6:55 (35s)</a:t>
            </a:r>
          </a:p>
          <a:p/>
          <a:p>
            <a:r>
              <a:t>TALKING POINTS:</a:t>
            </a:r>
          </a:p>
          <a:p>
            <a:r>
              <a:t>- Screen 3 provides medical officers with a dual-pane verification workspace.</a:t>
            </a:r>
          </a:p>
          <a:p>
            <a:r>
              <a:t>- Doctors can inspect unverified student prescription slips side-by-side with historical medical logs, and authorize sick leave with digital audit logging in under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Ahmed Samin Yasar &amp; Team</a:t>
            </a:r>
          </a:p>
          <a:p>
            <a:r>
              <a:t>TIME: 7:30 - 8:00 (30s + Q&amp;A)</a:t>
            </a:r>
          </a:p>
          <a:p/>
          <a:p>
            <a:r>
              <a:t>TALKING POINTS:</a:t>
            </a:r>
          </a:p>
          <a:p>
            <a:r>
              <a:t>- That concludes our final project presentation for CSE 4408.</a:t>
            </a:r>
          </a:p>
          <a:p>
            <a:r>
              <a:t>- We have systematically fulfilled all SDA lifecycle requirements across Labs 5 through 12.</a:t>
            </a:r>
          </a:p>
          <a:p>
            <a:r>
              <a:t>- Our entire team is now ready to answer any questions from the faculty panel.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5.png"/><Relationship Id="rId9" Type="http://schemas.openxmlformats.org/officeDocument/2006/relationships/image" Target="../media/image6.svg"/><Relationship Id="rId10" Type="http://schemas.openxmlformats.org/officeDocument/2006/relationships/image" Target="../media/image11.png"/><Relationship Id="rId11" Type="http://schemas.openxmlformats.org/officeDocument/2006/relationships/image" Target="../media/image12.svg"/><Relationship Id="rId1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image" Target="../media/image5.png"/><Relationship Id="rId9" Type="http://schemas.openxmlformats.org/officeDocument/2006/relationships/image" Target="../media/image6.svg"/><Relationship Id="rId1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image" Target="../media/image5.png"/><Relationship Id="rId9" Type="http://schemas.openxmlformats.org/officeDocument/2006/relationships/image" Target="../media/image6.svg"/><Relationship Id="rId1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17.png"/><Relationship Id="rId7" Type="http://schemas.openxmlformats.org/officeDocument/2006/relationships/image" Target="../media/image18.svg"/><Relationship Id="rId8" Type="http://schemas.openxmlformats.org/officeDocument/2006/relationships/image" Target="../media/image19.png"/><Relationship Id="rId9" Type="http://schemas.openxmlformats.org/officeDocument/2006/relationships/image" Target="../media/image20.svg"/><Relationship Id="rId10" Type="http://schemas.openxmlformats.org/officeDocument/2006/relationships/image" Target="../media/image21.png"/><Relationship Id="rId11" Type="http://schemas.openxmlformats.org/officeDocument/2006/relationships/image" Target="../media/image22.svg"/><Relationship Id="rId12" Type="http://schemas.openxmlformats.org/officeDocument/2006/relationships/image" Target="../media/image23.png"/><Relationship Id="rId13" Type="http://schemas.openxmlformats.org/officeDocument/2006/relationships/image" Target="../media/image24.svg"/><Relationship Id="rId14" Type="http://schemas.openxmlformats.org/officeDocument/2006/relationships/image" Target="../media/image5.png"/><Relationship Id="rId15" Type="http://schemas.openxmlformats.org/officeDocument/2006/relationships/image" Target="../media/image6.svg"/><Relationship Id="rId1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image" Target="../media/image5.png"/><Relationship Id="rId9" Type="http://schemas.openxmlformats.org/officeDocument/2006/relationships/image" Target="../media/image6.svg"/><Relationship Id="rId10" Type="http://schemas.openxmlformats.org/officeDocument/2006/relationships/image" Target="../media/image37.png"/><Relationship Id="rId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25.png"/><Relationship Id="rId5" Type="http://schemas.openxmlformats.org/officeDocument/2006/relationships/image" Target="../media/image26.svg"/><Relationship Id="rId6" Type="http://schemas.openxmlformats.org/officeDocument/2006/relationships/image" Target="../media/image27.png"/><Relationship Id="rId7" Type="http://schemas.openxmlformats.org/officeDocument/2006/relationships/image" Target="../media/image28.svg"/><Relationship Id="rId8" Type="http://schemas.openxmlformats.org/officeDocument/2006/relationships/image" Target="../media/image29.png"/><Relationship Id="rId9" Type="http://schemas.openxmlformats.org/officeDocument/2006/relationships/image" Target="../media/image30.svg"/><Relationship Id="rId10" Type="http://schemas.openxmlformats.org/officeDocument/2006/relationships/image" Target="../media/image31.png"/><Relationship Id="rId11" Type="http://schemas.openxmlformats.org/officeDocument/2006/relationships/image" Target="../media/image32.svg"/><Relationship Id="rId12" Type="http://schemas.openxmlformats.org/officeDocument/2006/relationships/image" Target="../media/image5.png"/><Relationship Id="rId13" Type="http://schemas.openxmlformats.org/officeDocument/2006/relationships/image" Target="../media/image6.svg"/><Relationship Id="rId14" Type="http://schemas.openxmlformats.org/officeDocument/2006/relationships/image" Target="../media/image33.png"/><Relationship Id="rId15" Type="http://schemas.openxmlformats.org/officeDocument/2006/relationships/image" Target="../media/image34.svg"/><Relationship Id="rId16" Type="http://schemas.openxmlformats.org/officeDocument/2006/relationships/image" Target="../media/image35.png"/><Relationship Id="rId17" Type="http://schemas.openxmlformats.org/officeDocument/2006/relationships/image" Target="../media/image36.svg"/><Relationship Id="rId18" Type="http://schemas.openxmlformats.org/officeDocument/2006/relationships/image" Target="../media/image38.png"/><Relationship Id="rId1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image" Target="../media/image5.png"/><Relationship Id="rId9" Type="http://schemas.openxmlformats.org/officeDocument/2006/relationships/image" Target="../media/image6.svg"/><Relationship Id="rId10" Type="http://schemas.openxmlformats.org/officeDocument/2006/relationships/image" Target="../media/image39.png"/><Relationship Id="rId11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image" Target="../media/image5.png"/><Relationship Id="rId9" Type="http://schemas.openxmlformats.org/officeDocument/2006/relationships/image" Target="../media/image6.svg"/><Relationship Id="rId10" Type="http://schemas.openxmlformats.org/officeDocument/2006/relationships/notesSlide" Target="../notesSlides/notesSlide14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686390" y="3570963"/>
            <a:ext cx="727680" cy="4653765"/>
          </a:xfrm>
          <a:custGeom>
            <a:avLst/>
            <a:gdLst/>
            <a:ahLst/>
            <a:cxnLst/>
            <a:rect r="r" b="b" t="t" l="l"/>
            <a:pathLst>
              <a:path h="4653765" w="727680">
                <a:moveTo>
                  <a:pt x="0" y="0"/>
                </a:moveTo>
                <a:lnTo>
                  <a:pt x="727680" y="0"/>
                </a:lnTo>
                <a:lnTo>
                  <a:pt x="727680" y="4653766"/>
                </a:lnTo>
                <a:lnTo>
                  <a:pt x="0" y="465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2871529" y="3570963"/>
            <a:ext cx="727680" cy="4653765"/>
          </a:xfrm>
          <a:custGeom>
            <a:avLst/>
            <a:gdLst/>
            <a:ahLst/>
            <a:cxnLst/>
            <a:rect r="r" b="b" t="t" l="l"/>
            <a:pathLst>
              <a:path h="4653765" w="727680">
                <a:moveTo>
                  <a:pt x="0" y="0"/>
                </a:moveTo>
                <a:lnTo>
                  <a:pt x="727680" y="0"/>
                </a:lnTo>
                <a:lnTo>
                  <a:pt x="727680" y="4653766"/>
                </a:lnTo>
                <a:lnTo>
                  <a:pt x="0" y="465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8780632" y="3570963"/>
            <a:ext cx="727680" cy="4653765"/>
          </a:xfrm>
          <a:custGeom>
            <a:avLst/>
            <a:gdLst/>
            <a:ahLst/>
            <a:cxnLst/>
            <a:rect r="r" b="b" t="t" l="l"/>
            <a:pathLst>
              <a:path h="4653765" w="727680">
                <a:moveTo>
                  <a:pt x="0" y="0"/>
                </a:moveTo>
                <a:lnTo>
                  <a:pt x="727679" y="0"/>
                </a:lnTo>
                <a:lnTo>
                  <a:pt x="727679" y="4653766"/>
                </a:lnTo>
                <a:lnTo>
                  <a:pt x="0" y="465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592149" y="3570963"/>
            <a:ext cx="727680" cy="4653765"/>
          </a:xfrm>
          <a:custGeom>
            <a:avLst/>
            <a:gdLst/>
            <a:ahLst/>
            <a:cxnLst/>
            <a:rect r="r" b="b" t="t" l="l"/>
            <a:pathLst>
              <a:path h="4653765" w="727680">
                <a:moveTo>
                  <a:pt x="0" y="0"/>
                </a:moveTo>
                <a:lnTo>
                  <a:pt x="727679" y="0"/>
                </a:lnTo>
                <a:lnTo>
                  <a:pt x="727679" y="4653766"/>
                </a:lnTo>
                <a:lnTo>
                  <a:pt x="0" y="465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6968172" y="3570963"/>
            <a:ext cx="727680" cy="4653765"/>
          </a:xfrm>
          <a:custGeom>
            <a:avLst/>
            <a:gdLst/>
            <a:ahLst/>
            <a:cxnLst/>
            <a:rect r="r" b="b" t="t" l="l"/>
            <a:pathLst>
              <a:path h="4653765" w="727680">
                <a:moveTo>
                  <a:pt x="0" y="0"/>
                </a:moveTo>
                <a:lnTo>
                  <a:pt x="727679" y="0"/>
                </a:lnTo>
                <a:lnTo>
                  <a:pt x="727679" y="4653766"/>
                </a:lnTo>
                <a:lnTo>
                  <a:pt x="0" y="465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10991" y="1115486"/>
            <a:ext cx="7121021" cy="4350296"/>
          </a:xfrm>
          <a:custGeom>
            <a:avLst/>
            <a:gdLst/>
            <a:ahLst/>
            <a:cxnLst/>
            <a:rect r="r" b="b" t="t" l="l"/>
            <a:pathLst>
              <a:path h="4350296" w="7121021">
                <a:moveTo>
                  <a:pt x="0" y="0"/>
                </a:moveTo>
                <a:lnTo>
                  <a:pt x="7121021" y="0"/>
                </a:lnTo>
                <a:lnTo>
                  <a:pt x="7121021" y="4350297"/>
                </a:lnTo>
                <a:lnTo>
                  <a:pt x="0" y="4350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537217" y="5369986"/>
            <a:ext cx="629643" cy="1074138"/>
            <a:chOff x="0" y="0"/>
            <a:chExt cx="181822" cy="3101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1822" cy="310187"/>
            </a:xfrm>
            <a:custGeom>
              <a:avLst/>
              <a:gdLst/>
              <a:ahLst/>
              <a:cxnLst/>
              <a:rect r="r" b="b" t="t" l="l"/>
              <a:pathLst>
                <a:path h="310187" w="181822">
                  <a:moveTo>
                    <a:pt x="181822" y="90911"/>
                  </a:moveTo>
                  <a:lnTo>
                    <a:pt x="181822" y="219276"/>
                  </a:lnTo>
                  <a:cubicBezTo>
                    <a:pt x="181822" y="269484"/>
                    <a:pt x="141120" y="310187"/>
                    <a:pt x="90911" y="310187"/>
                  </a:cubicBezTo>
                  <a:lnTo>
                    <a:pt x="90911" y="310187"/>
                  </a:lnTo>
                  <a:cubicBezTo>
                    <a:pt x="40702" y="310187"/>
                    <a:pt x="0" y="269484"/>
                    <a:pt x="0" y="219276"/>
                  </a:cubicBezTo>
                  <a:lnTo>
                    <a:pt x="0" y="90911"/>
                  </a:lnTo>
                  <a:cubicBezTo>
                    <a:pt x="0" y="40702"/>
                    <a:pt x="40702" y="0"/>
                    <a:pt x="90911" y="0"/>
                  </a:cubicBezTo>
                  <a:lnTo>
                    <a:pt x="90911" y="0"/>
                  </a:lnTo>
                  <a:cubicBezTo>
                    <a:pt x="141120" y="0"/>
                    <a:pt x="181822" y="40702"/>
                    <a:pt x="181822" y="90911"/>
                  </a:cubicBezTo>
                  <a:close/>
                </a:path>
              </a:pathLst>
            </a:custGeom>
            <a:solidFill>
              <a:srgbClr val="FFD84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81822" cy="367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09318" y="5360777"/>
            <a:ext cx="629643" cy="1074138"/>
            <a:chOff x="0" y="0"/>
            <a:chExt cx="181822" cy="3101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1822" cy="310187"/>
            </a:xfrm>
            <a:custGeom>
              <a:avLst/>
              <a:gdLst/>
              <a:ahLst/>
              <a:cxnLst/>
              <a:rect r="r" b="b" t="t" l="l"/>
              <a:pathLst>
                <a:path h="310187" w="181822">
                  <a:moveTo>
                    <a:pt x="181822" y="90911"/>
                  </a:moveTo>
                  <a:lnTo>
                    <a:pt x="181822" y="219276"/>
                  </a:lnTo>
                  <a:cubicBezTo>
                    <a:pt x="181822" y="269484"/>
                    <a:pt x="141120" y="310187"/>
                    <a:pt x="90911" y="310187"/>
                  </a:cubicBezTo>
                  <a:lnTo>
                    <a:pt x="90911" y="310187"/>
                  </a:lnTo>
                  <a:cubicBezTo>
                    <a:pt x="40702" y="310187"/>
                    <a:pt x="0" y="269484"/>
                    <a:pt x="0" y="219276"/>
                  </a:cubicBezTo>
                  <a:lnTo>
                    <a:pt x="0" y="90911"/>
                  </a:lnTo>
                  <a:cubicBezTo>
                    <a:pt x="0" y="40702"/>
                    <a:pt x="40702" y="0"/>
                    <a:pt x="90911" y="0"/>
                  </a:cubicBezTo>
                  <a:lnTo>
                    <a:pt x="90911" y="0"/>
                  </a:lnTo>
                  <a:cubicBezTo>
                    <a:pt x="141120" y="0"/>
                    <a:pt x="181822" y="40702"/>
                    <a:pt x="181822" y="90911"/>
                  </a:cubicBezTo>
                  <a:close/>
                </a:path>
              </a:pathLst>
            </a:custGeom>
            <a:solidFill>
              <a:srgbClr val="154D7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81822" cy="367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21299" y="5369986"/>
            <a:ext cx="629643" cy="1074138"/>
            <a:chOff x="0" y="0"/>
            <a:chExt cx="181822" cy="3101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1822" cy="310187"/>
            </a:xfrm>
            <a:custGeom>
              <a:avLst/>
              <a:gdLst/>
              <a:ahLst/>
              <a:cxnLst/>
              <a:rect r="r" b="b" t="t" l="l"/>
              <a:pathLst>
                <a:path h="310187" w="181822">
                  <a:moveTo>
                    <a:pt x="181822" y="90911"/>
                  </a:moveTo>
                  <a:lnTo>
                    <a:pt x="181822" y="219276"/>
                  </a:lnTo>
                  <a:cubicBezTo>
                    <a:pt x="181822" y="269484"/>
                    <a:pt x="141120" y="310187"/>
                    <a:pt x="90911" y="310187"/>
                  </a:cubicBezTo>
                  <a:lnTo>
                    <a:pt x="90911" y="310187"/>
                  </a:lnTo>
                  <a:cubicBezTo>
                    <a:pt x="40702" y="310187"/>
                    <a:pt x="0" y="269484"/>
                    <a:pt x="0" y="219276"/>
                  </a:cubicBezTo>
                  <a:lnTo>
                    <a:pt x="0" y="90911"/>
                  </a:lnTo>
                  <a:cubicBezTo>
                    <a:pt x="0" y="40702"/>
                    <a:pt x="40702" y="0"/>
                    <a:pt x="90911" y="0"/>
                  </a:cubicBezTo>
                  <a:lnTo>
                    <a:pt x="90911" y="0"/>
                  </a:lnTo>
                  <a:cubicBezTo>
                    <a:pt x="141120" y="0"/>
                    <a:pt x="181822" y="40702"/>
                    <a:pt x="181822" y="90911"/>
                  </a:cubicBezTo>
                  <a:close/>
                </a:path>
              </a:pathLst>
            </a:custGeom>
            <a:solidFill>
              <a:srgbClr val="FFD84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81822" cy="367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22282" y="7521285"/>
            <a:ext cx="4161074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230041113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5583" y="6945975"/>
            <a:ext cx="389447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Ahmed Samin Yasar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31726" y="1840021"/>
            <a:ext cx="8064443" cy="258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0"/>
              </a:lnSpc>
            </a:pPr>
            <a:r>
              <a:rPr lang="en-US" sz="6700" b="true">
                <a:solidFill>
                  <a:srgbClr val="1D1D1B"/>
                </a:solidFill>
                <a:latin typeface="DM Sans Bold"/>
                <a:ea typeface="DM Sans Bold"/>
                <a:cs typeface="DM Sans Bold"/>
                <a:sym typeface="DM Sans Bold"/>
              </a:rPr>
              <a:t>System Analysis</a:t>
            </a:r>
          </a:p>
          <a:p>
            <a:pPr algn="l">
              <a:lnSpc>
                <a:spcPts val="7370"/>
              </a:lnSpc>
            </a:pPr>
            <a:r>
              <a:rPr lang="en-US" sz="6700" b="true">
                <a:solidFill>
                  <a:srgbClr val="1D1D1B"/>
                </a:solidFill>
                <a:latin typeface="DM Sans Bold"/>
                <a:ea typeface="DM Sans Bold"/>
                <a:cs typeface="DM Sans Bold"/>
                <a:sym typeface="DM Sans Bold"/>
              </a:rPr>
              <a:t>and Design Lab</a:t>
            </a:r>
          </a:p>
          <a:p>
            <a:pPr algn="l" marL="0" indent="0" lvl="0">
              <a:lnSpc>
                <a:spcPts val="5610"/>
              </a:lnSpc>
              <a:spcBef>
                <a:spcPct val="0"/>
              </a:spcBef>
            </a:pPr>
            <a:r>
              <a:rPr lang="en-US" b="true" sz="5100">
                <a:solidFill>
                  <a:srgbClr val="1D1D1B"/>
                </a:solidFill>
                <a:latin typeface="DM Sans Bold"/>
                <a:ea typeface="DM Sans Bold"/>
                <a:cs typeface="DM Sans Bold"/>
                <a:sym typeface="DM Sans Bold"/>
              </a:rPr>
              <a:t>Group : Go With The Flow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758538">
            <a:off x="8829272" y="2225032"/>
            <a:ext cx="1189737" cy="990726"/>
          </a:xfrm>
          <a:custGeom>
            <a:avLst/>
            <a:gdLst/>
            <a:ahLst/>
            <a:cxnLst/>
            <a:rect r="r" b="b" t="t" l="l"/>
            <a:pathLst>
              <a:path h="990726" w="1189737">
                <a:moveTo>
                  <a:pt x="0" y="0"/>
                </a:moveTo>
                <a:lnTo>
                  <a:pt x="1189736" y="0"/>
                </a:lnTo>
                <a:lnTo>
                  <a:pt x="1189736" y="990726"/>
                </a:lnTo>
                <a:lnTo>
                  <a:pt x="0" y="9907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831726" y="1161841"/>
            <a:ext cx="2799777" cy="35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b="true" sz="2400">
                <a:solidFill>
                  <a:srgbClr val="1D1D1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CSE 4408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50230" y="7521285"/>
            <a:ext cx="4161074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230041139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83531" y="6945975"/>
            <a:ext cx="389447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Mahir Labib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24140" y="7521285"/>
            <a:ext cx="4161074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230041143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57441" y="6945975"/>
            <a:ext cx="389447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Abrar Faiyaz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71501" y="7521285"/>
            <a:ext cx="4161074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230041153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04803" y="6945975"/>
            <a:ext cx="389447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Ashique Khan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67342">
            <a:off x="-1524889" y="-1399440"/>
            <a:ext cx="6379854" cy="5935265"/>
          </a:xfrm>
          <a:custGeom>
            <a:avLst/>
            <a:gdLst/>
            <a:ahLst/>
            <a:cxnLst/>
            <a:rect r="r" b="b" t="t" l="l"/>
            <a:pathLst>
              <a:path h="5935265" w="6379854">
                <a:moveTo>
                  <a:pt x="0" y="0"/>
                </a:moveTo>
                <a:lnTo>
                  <a:pt x="6379854" y="0"/>
                </a:lnTo>
                <a:lnTo>
                  <a:pt x="6379854" y="5935265"/>
                </a:lnTo>
                <a:lnTo>
                  <a:pt x="0" y="59352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65038" y="1678977"/>
            <a:ext cx="7336073" cy="6929047"/>
            <a:chOff x="0" y="0"/>
            <a:chExt cx="1680213" cy="15870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0213" cy="1587032"/>
            </a:xfrm>
            <a:custGeom>
              <a:avLst/>
              <a:gdLst/>
              <a:ahLst/>
              <a:cxnLst/>
              <a:rect r="r" b="b" t="t" l="l"/>
              <a:pathLst>
                <a:path h="1587032" w="1680213">
                  <a:moveTo>
                    <a:pt x="1680213" y="15830"/>
                  </a:moveTo>
                  <a:lnTo>
                    <a:pt x="1680213" y="1571203"/>
                  </a:lnTo>
                  <a:cubicBezTo>
                    <a:pt x="1680213" y="1579945"/>
                    <a:pt x="1673126" y="1587032"/>
                    <a:pt x="1664383" y="1587032"/>
                  </a:cubicBezTo>
                  <a:lnTo>
                    <a:pt x="15830" y="1587032"/>
                  </a:lnTo>
                  <a:cubicBezTo>
                    <a:pt x="7087" y="1587032"/>
                    <a:pt x="0" y="1579945"/>
                    <a:pt x="0" y="1571203"/>
                  </a:cubicBezTo>
                  <a:lnTo>
                    <a:pt x="0" y="15830"/>
                  </a:lnTo>
                  <a:cubicBezTo>
                    <a:pt x="0" y="7087"/>
                    <a:pt x="7087" y="0"/>
                    <a:pt x="15830" y="0"/>
                  </a:cubicBezTo>
                  <a:lnTo>
                    <a:pt x="1664383" y="0"/>
                  </a:lnTo>
                  <a:cubicBezTo>
                    <a:pt x="1673126" y="0"/>
                    <a:pt x="1680213" y="7087"/>
                    <a:pt x="1680213" y="15830"/>
                  </a:cubicBezTo>
                  <a:close/>
                </a:path>
              </a:pathLst>
            </a:custGeom>
            <a:solidFill>
              <a:srgbClr val="FFD84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680213" cy="1644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533298" y="6498367"/>
            <a:ext cx="4647032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D1D1B"/>
                </a:solidFill>
                <a:latin typeface="Poppins"/>
                <a:ea typeface="Poppins"/>
                <a:cs typeface="Poppins"/>
                <a:sym typeface="Poppins"/>
              </a:rPr>
              <a:t>A system designed to prevent the spread of contagious, viral diseases among IUT students and facilitate the recovery of ill students.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5811184" y="7237431"/>
            <a:ext cx="6379854" cy="5935265"/>
          </a:xfrm>
          <a:custGeom>
            <a:avLst/>
            <a:gdLst/>
            <a:ahLst/>
            <a:cxnLst/>
            <a:rect r="r" b="b" t="t" l="l"/>
            <a:pathLst>
              <a:path h="5935265" w="6379854">
                <a:moveTo>
                  <a:pt x="0" y="0"/>
                </a:moveTo>
                <a:lnTo>
                  <a:pt x="6379854" y="0"/>
                </a:lnTo>
                <a:lnTo>
                  <a:pt x="6379854" y="5935265"/>
                </a:lnTo>
                <a:lnTo>
                  <a:pt x="0" y="59352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4506538" y="4256333"/>
            <a:ext cx="1022660" cy="6540265"/>
          </a:xfrm>
          <a:custGeom>
            <a:avLst/>
            <a:gdLst/>
            <a:ahLst/>
            <a:cxnLst/>
            <a:rect r="r" b="b" t="t" l="l"/>
            <a:pathLst>
              <a:path h="6540265" w="1022660">
                <a:moveTo>
                  <a:pt x="0" y="0"/>
                </a:moveTo>
                <a:lnTo>
                  <a:pt x="1022659" y="0"/>
                </a:lnTo>
                <a:lnTo>
                  <a:pt x="1022659" y="6540265"/>
                </a:lnTo>
                <a:lnTo>
                  <a:pt x="0" y="65402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334249" y="1956574"/>
            <a:ext cx="6925051" cy="5892589"/>
          </a:xfrm>
          <a:custGeom>
            <a:avLst/>
            <a:gdLst/>
            <a:ahLst/>
            <a:cxnLst/>
            <a:rect r="r" b="b" t="t" l="l"/>
            <a:pathLst>
              <a:path h="5892589" w="6925051">
                <a:moveTo>
                  <a:pt x="0" y="0"/>
                </a:moveTo>
                <a:lnTo>
                  <a:pt x="6925051" y="0"/>
                </a:lnTo>
                <a:lnTo>
                  <a:pt x="6925051" y="5892589"/>
                </a:lnTo>
                <a:lnTo>
                  <a:pt x="0" y="58925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120133">
            <a:off x="15794407" y="7999236"/>
            <a:ext cx="1680436" cy="1399345"/>
          </a:xfrm>
          <a:custGeom>
            <a:avLst/>
            <a:gdLst/>
            <a:ahLst/>
            <a:cxnLst/>
            <a:rect r="r" b="b" t="t" l="l"/>
            <a:pathLst>
              <a:path h="1399345" w="1680436">
                <a:moveTo>
                  <a:pt x="0" y="0"/>
                </a:moveTo>
                <a:lnTo>
                  <a:pt x="1680435" y="0"/>
                </a:lnTo>
                <a:lnTo>
                  <a:pt x="1680435" y="1399344"/>
                </a:lnTo>
                <a:lnTo>
                  <a:pt x="0" y="13993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15133">
            <a:off x="9579871" y="1460678"/>
            <a:ext cx="1508755" cy="1256381"/>
          </a:xfrm>
          <a:custGeom>
            <a:avLst/>
            <a:gdLst/>
            <a:ahLst/>
            <a:cxnLst/>
            <a:rect r="r" b="b" t="t" l="l"/>
            <a:pathLst>
              <a:path h="1256381" w="1508755">
                <a:moveTo>
                  <a:pt x="0" y="0"/>
                </a:moveTo>
                <a:lnTo>
                  <a:pt x="1508755" y="0"/>
                </a:lnTo>
                <a:lnTo>
                  <a:pt x="1508755" y="1256381"/>
                </a:lnTo>
                <a:lnTo>
                  <a:pt x="0" y="12563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320142">
            <a:off x="619047" y="8306909"/>
            <a:ext cx="1508755" cy="1256381"/>
          </a:xfrm>
          <a:custGeom>
            <a:avLst/>
            <a:gdLst/>
            <a:ahLst/>
            <a:cxnLst/>
            <a:rect r="r" b="b" t="t" l="l"/>
            <a:pathLst>
              <a:path h="1256381" w="1508755">
                <a:moveTo>
                  <a:pt x="1508755" y="0"/>
                </a:moveTo>
                <a:lnTo>
                  <a:pt x="0" y="0"/>
                </a:lnTo>
                <a:lnTo>
                  <a:pt x="0" y="1256382"/>
                </a:lnTo>
                <a:lnTo>
                  <a:pt x="1508755" y="1256382"/>
                </a:lnTo>
                <a:lnTo>
                  <a:pt x="150875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33298" y="2452370"/>
            <a:ext cx="5599554" cy="357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9"/>
              </a:lnSpc>
              <a:spcBef>
                <a:spcPct val="0"/>
              </a:spcBef>
            </a:pPr>
            <a:r>
              <a:rPr lang="en-US" b="true" sz="6399">
                <a:solidFill>
                  <a:srgbClr val="1D1D1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Disease Spread Prevention System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75153" y="6486041"/>
            <a:ext cx="6185548" cy="2362528"/>
            <a:chOff x="0" y="0"/>
            <a:chExt cx="1416703" cy="5411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703" cy="541115"/>
            </a:xfrm>
            <a:custGeom>
              <a:avLst/>
              <a:gdLst/>
              <a:ahLst/>
              <a:cxnLst/>
              <a:rect r="r" b="b" t="t" l="l"/>
              <a:pathLst>
                <a:path h="541115" w="1416703">
                  <a:moveTo>
                    <a:pt x="1416703" y="18774"/>
                  </a:moveTo>
                  <a:lnTo>
                    <a:pt x="1416703" y="522340"/>
                  </a:lnTo>
                  <a:cubicBezTo>
                    <a:pt x="1416703" y="527320"/>
                    <a:pt x="1414725" y="532095"/>
                    <a:pt x="1411205" y="535616"/>
                  </a:cubicBezTo>
                  <a:cubicBezTo>
                    <a:pt x="1407684" y="539137"/>
                    <a:pt x="1402908" y="541115"/>
                    <a:pt x="1397929" y="541115"/>
                  </a:cubicBezTo>
                  <a:lnTo>
                    <a:pt x="18774" y="541115"/>
                  </a:lnTo>
                  <a:cubicBezTo>
                    <a:pt x="13795" y="541115"/>
                    <a:pt x="9020" y="539137"/>
                    <a:pt x="5499" y="535616"/>
                  </a:cubicBezTo>
                  <a:cubicBezTo>
                    <a:pt x="1978" y="532095"/>
                    <a:pt x="0" y="527320"/>
                    <a:pt x="0" y="522340"/>
                  </a:cubicBezTo>
                  <a:lnTo>
                    <a:pt x="0" y="18774"/>
                  </a:lnTo>
                  <a:cubicBezTo>
                    <a:pt x="0" y="13795"/>
                    <a:pt x="1978" y="9020"/>
                    <a:pt x="5499" y="5499"/>
                  </a:cubicBezTo>
                  <a:cubicBezTo>
                    <a:pt x="9020" y="1978"/>
                    <a:pt x="13795" y="0"/>
                    <a:pt x="18774" y="0"/>
                  </a:cubicBezTo>
                  <a:lnTo>
                    <a:pt x="1397929" y="0"/>
                  </a:lnTo>
                  <a:cubicBezTo>
                    <a:pt x="1402908" y="0"/>
                    <a:pt x="1407684" y="1978"/>
                    <a:pt x="1411205" y="5499"/>
                  </a:cubicBezTo>
                  <a:cubicBezTo>
                    <a:pt x="1414725" y="9020"/>
                    <a:pt x="1416703" y="13795"/>
                    <a:pt x="1416703" y="18774"/>
                  </a:cubicBezTo>
                  <a:close/>
                </a:path>
              </a:pathLst>
            </a:custGeom>
            <a:solidFill>
              <a:srgbClr val="154D71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416703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75153" y="3898791"/>
            <a:ext cx="6185548" cy="2362528"/>
            <a:chOff x="0" y="0"/>
            <a:chExt cx="1416703" cy="5411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16703" cy="541115"/>
            </a:xfrm>
            <a:custGeom>
              <a:avLst/>
              <a:gdLst/>
              <a:ahLst/>
              <a:cxnLst/>
              <a:rect r="r" b="b" t="t" l="l"/>
              <a:pathLst>
                <a:path h="541115" w="1416703">
                  <a:moveTo>
                    <a:pt x="1416703" y="18774"/>
                  </a:moveTo>
                  <a:lnTo>
                    <a:pt x="1416703" y="522340"/>
                  </a:lnTo>
                  <a:cubicBezTo>
                    <a:pt x="1416703" y="527320"/>
                    <a:pt x="1414725" y="532095"/>
                    <a:pt x="1411205" y="535616"/>
                  </a:cubicBezTo>
                  <a:cubicBezTo>
                    <a:pt x="1407684" y="539137"/>
                    <a:pt x="1402908" y="541115"/>
                    <a:pt x="1397929" y="541115"/>
                  </a:cubicBezTo>
                  <a:lnTo>
                    <a:pt x="18774" y="541115"/>
                  </a:lnTo>
                  <a:cubicBezTo>
                    <a:pt x="13795" y="541115"/>
                    <a:pt x="9020" y="539137"/>
                    <a:pt x="5499" y="535616"/>
                  </a:cubicBezTo>
                  <a:cubicBezTo>
                    <a:pt x="1978" y="532095"/>
                    <a:pt x="0" y="527320"/>
                    <a:pt x="0" y="522340"/>
                  </a:cubicBezTo>
                  <a:lnTo>
                    <a:pt x="0" y="18774"/>
                  </a:lnTo>
                  <a:cubicBezTo>
                    <a:pt x="0" y="13795"/>
                    <a:pt x="1978" y="9020"/>
                    <a:pt x="5499" y="5499"/>
                  </a:cubicBezTo>
                  <a:cubicBezTo>
                    <a:pt x="9020" y="1978"/>
                    <a:pt x="13795" y="0"/>
                    <a:pt x="18774" y="0"/>
                  </a:cubicBezTo>
                  <a:lnTo>
                    <a:pt x="1397929" y="0"/>
                  </a:lnTo>
                  <a:cubicBezTo>
                    <a:pt x="1402908" y="0"/>
                    <a:pt x="1407684" y="1978"/>
                    <a:pt x="1411205" y="5499"/>
                  </a:cubicBezTo>
                  <a:cubicBezTo>
                    <a:pt x="1414725" y="9020"/>
                    <a:pt x="1416703" y="13795"/>
                    <a:pt x="1416703" y="18774"/>
                  </a:cubicBezTo>
                  <a:close/>
                </a:path>
              </a:pathLst>
            </a:custGeom>
            <a:solidFill>
              <a:srgbClr val="FFD848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416703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75153" y="1327585"/>
            <a:ext cx="6185548" cy="2362528"/>
            <a:chOff x="0" y="0"/>
            <a:chExt cx="1416703" cy="5411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16703" cy="541115"/>
            </a:xfrm>
            <a:custGeom>
              <a:avLst/>
              <a:gdLst/>
              <a:ahLst/>
              <a:cxnLst/>
              <a:rect r="r" b="b" t="t" l="l"/>
              <a:pathLst>
                <a:path h="541115" w="1416703">
                  <a:moveTo>
                    <a:pt x="1416703" y="18774"/>
                  </a:moveTo>
                  <a:lnTo>
                    <a:pt x="1416703" y="522340"/>
                  </a:lnTo>
                  <a:cubicBezTo>
                    <a:pt x="1416703" y="527320"/>
                    <a:pt x="1414725" y="532095"/>
                    <a:pt x="1411205" y="535616"/>
                  </a:cubicBezTo>
                  <a:cubicBezTo>
                    <a:pt x="1407684" y="539137"/>
                    <a:pt x="1402908" y="541115"/>
                    <a:pt x="1397929" y="541115"/>
                  </a:cubicBezTo>
                  <a:lnTo>
                    <a:pt x="18774" y="541115"/>
                  </a:lnTo>
                  <a:cubicBezTo>
                    <a:pt x="13795" y="541115"/>
                    <a:pt x="9020" y="539137"/>
                    <a:pt x="5499" y="535616"/>
                  </a:cubicBezTo>
                  <a:cubicBezTo>
                    <a:pt x="1978" y="532095"/>
                    <a:pt x="0" y="527320"/>
                    <a:pt x="0" y="522340"/>
                  </a:cubicBezTo>
                  <a:lnTo>
                    <a:pt x="0" y="18774"/>
                  </a:lnTo>
                  <a:cubicBezTo>
                    <a:pt x="0" y="13795"/>
                    <a:pt x="1978" y="9020"/>
                    <a:pt x="5499" y="5499"/>
                  </a:cubicBezTo>
                  <a:cubicBezTo>
                    <a:pt x="9020" y="1978"/>
                    <a:pt x="13795" y="0"/>
                    <a:pt x="18774" y="0"/>
                  </a:cubicBezTo>
                  <a:lnTo>
                    <a:pt x="1397929" y="0"/>
                  </a:lnTo>
                  <a:cubicBezTo>
                    <a:pt x="1402908" y="0"/>
                    <a:pt x="1407684" y="1978"/>
                    <a:pt x="1411205" y="5499"/>
                  </a:cubicBezTo>
                  <a:cubicBezTo>
                    <a:pt x="1414725" y="9020"/>
                    <a:pt x="1416703" y="13795"/>
                    <a:pt x="1416703" y="18774"/>
                  </a:cubicBezTo>
                  <a:close/>
                </a:path>
              </a:pathLst>
            </a:custGeom>
            <a:solidFill>
              <a:srgbClr val="FFD848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416703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5400000">
            <a:off x="14954453" y="6434115"/>
            <a:ext cx="1000298" cy="6397252"/>
          </a:xfrm>
          <a:custGeom>
            <a:avLst/>
            <a:gdLst/>
            <a:ahLst/>
            <a:cxnLst/>
            <a:rect r="r" b="b" t="t" l="l"/>
            <a:pathLst>
              <a:path h="6397252" w="1000298">
                <a:moveTo>
                  <a:pt x="0" y="0"/>
                </a:moveTo>
                <a:lnTo>
                  <a:pt x="1000297" y="0"/>
                </a:lnTo>
                <a:lnTo>
                  <a:pt x="1000297" y="6397251"/>
                </a:lnTo>
                <a:lnTo>
                  <a:pt x="0" y="6397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5400000">
            <a:off x="8659608" y="6434115"/>
            <a:ext cx="1000298" cy="6397252"/>
          </a:xfrm>
          <a:custGeom>
            <a:avLst/>
            <a:gdLst/>
            <a:ahLst/>
            <a:cxnLst/>
            <a:rect r="r" b="b" t="t" l="l"/>
            <a:pathLst>
              <a:path h="6397252" w="1000298">
                <a:moveTo>
                  <a:pt x="0" y="0"/>
                </a:moveTo>
                <a:lnTo>
                  <a:pt x="1000298" y="0"/>
                </a:lnTo>
                <a:lnTo>
                  <a:pt x="1000298" y="6397251"/>
                </a:lnTo>
                <a:lnTo>
                  <a:pt x="0" y="6397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5400000">
            <a:off x="2333250" y="6434115"/>
            <a:ext cx="1000298" cy="6397252"/>
          </a:xfrm>
          <a:custGeom>
            <a:avLst/>
            <a:gdLst/>
            <a:ahLst/>
            <a:cxnLst/>
            <a:rect r="r" b="b" t="t" l="l"/>
            <a:pathLst>
              <a:path h="6397252" w="1000298">
                <a:moveTo>
                  <a:pt x="0" y="0"/>
                </a:moveTo>
                <a:lnTo>
                  <a:pt x="1000297" y="0"/>
                </a:lnTo>
                <a:lnTo>
                  <a:pt x="1000297" y="6397251"/>
                </a:lnTo>
                <a:lnTo>
                  <a:pt x="0" y="6397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4" id="14"/>
          <p:cNvGrpSpPr/>
          <p:nvPr/>
        </p:nvGrpSpPr>
        <p:grpSpPr>
          <a:xfrm rot="0">
            <a:off x="15942109" y="2245877"/>
            <a:ext cx="697705" cy="525944"/>
            <a:chOff x="0" y="0"/>
            <a:chExt cx="159798" cy="1204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9798" cy="120462"/>
            </a:xfrm>
            <a:custGeom>
              <a:avLst/>
              <a:gdLst/>
              <a:ahLst/>
              <a:cxnLst/>
              <a:rect r="r" b="b" t="t" l="l"/>
              <a:pathLst>
                <a:path h="120462" w="159798">
                  <a:moveTo>
                    <a:pt x="159798" y="60231"/>
                  </a:moveTo>
                  <a:lnTo>
                    <a:pt x="159798" y="60231"/>
                  </a:lnTo>
                  <a:cubicBezTo>
                    <a:pt x="159798" y="93496"/>
                    <a:pt x="132832" y="120462"/>
                    <a:pt x="99567" y="120462"/>
                  </a:cubicBezTo>
                  <a:lnTo>
                    <a:pt x="60231" y="120462"/>
                  </a:lnTo>
                  <a:cubicBezTo>
                    <a:pt x="26966" y="120462"/>
                    <a:pt x="0" y="93496"/>
                    <a:pt x="0" y="60231"/>
                  </a:cubicBezTo>
                  <a:lnTo>
                    <a:pt x="0" y="60231"/>
                  </a:lnTo>
                  <a:cubicBezTo>
                    <a:pt x="0" y="26966"/>
                    <a:pt x="26966" y="0"/>
                    <a:pt x="60231" y="0"/>
                  </a:cubicBezTo>
                  <a:lnTo>
                    <a:pt x="99567" y="0"/>
                  </a:lnTo>
                  <a:cubicBezTo>
                    <a:pt x="132832" y="0"/>
                    <a:pt x="159798" y="26966"/>
                    <a:pt x="159798" y="60231"/>
                  </a:cubicBezTo>
                  <a:close/>
                </a:path>
              </a:pathLst>
            </a:custGeom>
            <a:solidFill>
              <a:srgbClr val="154D71"/>
            </a:solid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59798" cy="177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942109" y="4817083"/>
            <a:ext cx="697705" cy="525944"/>
            <a:chOff x="0" y="0"/>
            <a:chExt cx="159798" cy="1204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9798" cy="120462"/>
            </a:xfrm>
            <a:custGeom>
              <a:avLst/>
              <a:gdLst/>
              <a:ahLst/>
              <a:cxnLst/>
              <a:rect r="r" b="b" t="t" l="l"/>
              <a:pathLst>
                <a:path h="120462" w="159798">
                  <a:moveTo>
                    <a:pt x="159798" y="60231"/>
                  </a:moveTo>
                  <a:lnTo>
                    <a:pt x="159798" y="60231"/>
                  </a:lnTo>
                  <a:cubicBezTo>
                    <a:pt x="159798" y="93496"/>
                    <a:pt x="132832" y="120462"/>
                    <a:pt x="99567" y="120462"/>
                  </a:cubicBezTo>
                  <a:lnTo>
                    <a:pt x="60231" y="120462"/>
                  </a:lnTo>
                  <a:cubicBezTo>
                    <a:pt x="26966" y="120462"/>
                    <a:pt x="0" y="93496"/>
                    <a:pt x="0" y="60231"/>
                  </a:cubicBezTo>
                  <a:lnTo>
                    <a:pt x="0" y="60231"/>
                  </a:lnTo>
                  <a:cubicBezTo>
                    <a:pt x="0" y="26966"/>
                    <a:pt x="26966" y="0"/>
                    <a:pt x="60231" y="0"/>
                  </a:cubicBezTo>
                  <a:lnTo>
                    <a:pt x="99567" y="0"/>
                  </a:lnTo>
                  <a:cubicBezTo>
                    <a:pt x="132832" y="0"/>
                    <a:pt x="159798" y="26966"/>
                    <a:pt x="159798" y="60231"/>
                  </a:cubicBezTo>
                  <a:close/>
                </a:path>
              </a:pathLst>
            </a:custGeom>
            <a:solidFill>
              <a:srgbClr val="154D71"/>
            </a:solid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59798" cy="177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942109" y="7404332"/>
            <a:ext cx="697705" cy="525944"/>
            <a:chOff x="0" y="0"/>
            <a:chExt cx="159798" cy="1204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9798" cy="120462"/>
            </a:xfrm>
            <a:custGeom>
              <a:avLst/>
              <a:gdLst/>
              <a:ahLst/>
              <a:cxnLst/>
              <a:rect r="r" b="b" t="t" l="l"/>
              <a:pathLst>
                <a:path h="120462" w="159798">
                  <a:moveTo>
                    <a:pt x="159798" y="60231"/>
                  </a:moveTo>
                  <a:lnTo>
                    <a:pt x="159798" y="60231"/>
                  </a:lnTo>
                  <a:cubicBezTo>
                    <a:pt x="159798" y="93496"/>
                    <a:pt x="132832" y="120462"/>
                    <a:pt x="99567" y="120462"/>
                  </a:cubicBezTo>
                  <a:lnTo>
                    <a:pt x="60231" y="120462"/>
                  </a:lnTo>
                  <a:cubicBezTo>
                    <a:pt x="26966" y="120462"/>
                    <a:pt x="0" y="93496"/>
                    <a:pt x="0" y="60231"/>
                  </a:cubicBezTo>
                  <a:lnTo>
                    <a:pt x="0" y="60231"/>
                  </a:lnTo>
                  <a:cubicBezTo>
                    <a:pt x="0" y="26966"/>
                    <a:pt x="26966" y="0"/>
                    <a:pt x="60231" y="0"/>
                  </a:cubicBezTo>
                  <a:lnTo>
                    <a:pt x="99567" y="0"/>
                  </a:lnTo>
                  <a:cubicBezTo>
                    <a:pt x="132832" y="0"/>
                    <a:pt x="159798" y="26966"/>
                    <a:pt x="159798" y="60231"/>
                  </a:cubicBezTo>
                  <a:close/>
                </a:path>
              </a:pathLst>
            </a:custGeom>
            <a:solidFill>
              <a:srgbClr val="FFD848"/>
            </a:solid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59798" cy="177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508600" y="4205549"/>
            <a:ext cx="6517545" cy="5474738"/>
          </a:xfrm>
          <a:custGeom>
            <a:avLst/>
            <a:gdLst/>
            <a:ahLst/>
            <a:cxnLst/>
            <a:rect r="r" b="b" t="t" l="l"/>
            <a:pathLst>
              <a:path h="5474738" w="6517545">
                <a:moveTo>
                  <a:pt x="0" y="0"/>
                </a:moveTo>
                <a:lnTo>
                  <a:pt x="6517546" y="0"/>
                </a:lnTo>
                <a:lnTo>
                  <a:pt x="6517546" y="5474738"/>
                </a:lnTo>
                <a:lnTo>
                  <a:pt x="0" y="5474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4" id="24"/>
          <p:cNvSpPr txBox="true"/>
          <p:nvPr/>
        </p:nvSpPr>
        <p:spPr>
          <a:xfrm rot="0">
            <a:off x="10780728" y="2405026"/>
            <a:ext cx="4673873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520"/>
              </a:lnSpc>
              <a:spcBef>
                <a:spcPct val="0"/>
              </a:spcBef>
            </a:pPr>
            <a:r>
              <a:t>Over 3,000 students live in close proximity across male and female halls with shared dining and amenities.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80728" y="1601117"/>
            <a:ext cx="4392454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t>High-Density Residential Campus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80728" y="5000156"/>
            <a:ext cx="4088727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520"/>
              </a:lnSpc>
              <a:spcBef>
                <a:spcPct val="0"/>
              </a:spcBef>
            </a:pPr>
            <a:r>
              <a:t>The IUT Medical Center manages consultations and triage, but suffers from paper-based record fragmentation.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780728" y="7585907"/>
            <a:ext cx="4392454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Viral flu, COVID-19, Dengue, and conjunctivitis spread rapidly through dorms without early detection.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780728" y="4148399"/>
            <a:ext cx="5554584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t>Centralized Healthcare Hub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80728" y="6737147"/>
            <a:ext cx="4673873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t>Multi-Stakeholder Coordination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08600" y="982944"/>
            <a:ext cx="6138010" cy="3025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t>Organizational Context &amp; Stakeholders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145915">
            <a:off x="8202448" y="5104925"/>
            <a:ext cx="1193316" cy="993707"/>
          </a:xfrm>
          <a:custGeom>
            <a:avLst/>
            <a:gdLst/>
            <a:ahLst/>
            <a:cxnLst/>
            <a:rect r="r" b="b" t="t" l="l"/>
            <a:pathLst>
              <a:path h="993707" w="1193316">
                <a:moveTo>
                  <a:pt x="0" y="0"/>
                </a:moveTo>
                <a:lnTo>
                  <a:pt x="1193317" y="0"/>
                </a:lnTo>
                <a:lnTo>
                  <a:pt x="1193317" y="993707"/>
                </a:lnTo>
                <a:lnTo>
                  <a:pt x="0" y="9937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2" id="32"/>
          <p:cNvSpPr/>
          <p:nvPr/>
        </p:nvSpPr>
        <p:spPr>
          <a:xfrm flipH="false" flipV="false" rot="-1015133">
            <a:off x="8796379" y="2794803"/>
            <a:ext cx="833616" cy="694174"/>
          </a:xfrm>
          <a:custGeom>
            <a:avLst/>
            <a:gdLst/>
            <a:ahLst/>
            <a:cxnLst/>
            <a:rect r="r" b="b" t="t" l="l"/>
            <a:pathLst>
              <a:path h="694174" w="833616">
                <a:moveTo>
                  <a:pt x="0" y="0"/>
                </a:moveTo>
                <a:lnTo>
                  <a:pt x="833616" y="0"/>
                </a:lnTo>
                <a:lnTo>
                  <a:pt x="833616" y="694175"/>
                </a:lnTo>
                <a:lnTo>
                  <a:pt x="0" y="6941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096987">
            <a:off x="-1966952" y="5462957"/>
            <a:ext cx="6847821" cy="4382605"/>
          </a:xfrm>
          <a:custGeom>
            <a:avLst/>
            <a:gdLst/>
            <a:ahLst/>
            <a:cxnLst/>
            <a:rect r="r" b="b" t="t" l="l"/>
            <a:pathLst>
              <a:path h="4382605" w="6847821">
                <a:moveTo>
                  <a:pt x="0" y="4382605"/>
                </a:moveTo>
                <a:lnTo>
                  <a:pt x="6847821" y="4382605"/>
                </a:lnTo>
                <a:lnTo>
                  <a:pt x="6847821" y="0"/>
                </a:lnTo>
                <a:lnTo>
                  <a:pt x="0" y="0"/>
                </a:lnTo>
                <a:lnTo>
                  <a:pt x="0" y="43826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045871" y="4015066"/>
            <a:ext cx="6083938" cy="2441090"/>
            <a:chOff x="0" y="0"/>
            <a:chExt cx="1602393" cy="6429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2393" cy="642954"/>
            </a:xfrm>
            <a:custGeom>
              <a:avLst/>
              <a:gdLst/>
              <a:ahLst/>
              <a:cxnLst/>
              <a:rect r="r" b="b" t="t" l="l"/>
              <a:pathLst>
                <a:path h="642954" w="1602393">
                  <a:moveTo>
                    <a:pt x="1602393" y="19088"/>
                  </a:moveTo>
                  <a:lnTo>
                    <a:pt x="1602393" y="623866"/>
                  </a:lnTo>
                  <a:cubicBezTo>
                    <a:pt x="1602393" y="634408"/>
                    <a:pt x="1593847" y="642954"/>
                    <a:pt x="1583305" y="642954"/>
                  </a:cubicBezTo>
                  <a:lnTo>
                    <a:pt x="19088" y="642954"/>
                  </a:lnTo>
                  <a:cubicBezTo>
                    <a:pt x="8546" y="642954"/>
                    <a:pt x="0" y="634408"/>
                    <a:pt x="0" y="62386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solidFill>
              <a:srgbClr val="154D71"/>
            </a:solidFill>
          </p:spPr>
          <p:txBody>
            <a:bodyPr/>
            <a:p/>
          </p:txBody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602393" cy="700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5871" y="7006167"/>
            <a:ext cx="6083938" cy="2441090"/>
            <a:chOff x="0" y="0"/>
            <a:chExt cx="1602393" cy="6429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2393" cy="642954"/>
            </a:xfrm>
            <a:custGeom>
              <a:avLst/>
              <a:gdLst/>
              <a:ahLst/>
              <a:cxnLst/>
              <a:rect r="r" b="b" t="t" l="l"/>
              <a:pathLst>
                <a:path h="642954" w="1602393">
                  <a:moveTo>
                    <a:pt x="1602393" y="19088"/>
                  </a:moveTo>
                  <a:lnTo>
                    <a:pt x="1602393" y="623866"/>
                  </a:lnTo>
                  <a:cubicBezTo>
                    <a:pt x="1602393" y="634408"/>
                    <a:pt x="1593847" y="642954"/>
                    <a:pt x="1583305" y="642954"/>
                  </a:cubicBezTo>
                  <a:lnTo>
                    <a:pt x="19088" y="642954"/>
                  </a:lnTo>
                  <a:cubicBezTo>
                    <a:pt x="8546" y="642954"/>
                    <a:pt x="0" y="634408"/>
                    <a:pt x="0" y="62386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solidFill>
              <a:srgbClr val="FFD848"/>
            </a:solid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602393" cy="700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-854058">
            <a:off x="13515476" y="4789687"/>
            <a:ext cx="6847821" cy="4382605"/>
          </a:xfrm>
          <a:custGeom>
            <a:avLst/>
            <a:gdLst/>
            <a:ahLst/>
            <a:cxnLst/>
            <a:rect r="r" b="b" t="t" l="l"/>
            <a:pathLst>
              <a:path h="4382605" w="6847821">
                <a:moveTo>
                  <a:pt x="0" y="4382605"/>
                </a:moveTo>
                <a:lnTo>
                  <a:pt x="6847821" y="4382605"/>
                </a:lnTo>
                <a:lnTo>
                  <a:pt x="6847821" y="0"/>
                </a:lnTo>
                <a:lnTo>
                  <a:pt x="0" y="0"/>
                </a:lnTo>
                <a:lnTo>
                  <a:pt x="0" y="43826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true" flipV="false" rot="4545941">
            <a:off x="11173957" y="7172969"/>
            <a:ext cx="906879" cy="5799809"/>
          </a:xfrm>
          <a:custGeom>
            <a:avLst/>
            <a:gdLst/>
            <a:ahLst/>
            <a:cxnLst/>
            <a:rect r="r" b="b" t="t" l="l"/>
            <a:pathLst>
              <a:path h="5799809" w="906879">
                <a:moveTo>
                  <a:pt x="906879" y="0"/>
                </a:moveTo>
                <a:lnTo>
                  <a:pt x="0" y="0"/>
                </a:lnTo>
                <a:lnTo>
                  <a:pt x="0" y="5799810"/>
                </a:lnTo>
                <a:lnTo>
                  <a:pt x="906879" y="5799810"/>
                </a:lnTo>
                <a:lnTo>
                  <a:pt x="90687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0">
            <a:off x="11192533" y="4015066"/>
            <a:ext cx="6083938" cy="2441090"/>
            <a:chOff x="0" y="0"/>
            <a:chExt cx="1602393" cy="6429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02393" cy="642954"/>
            </a:xfrm>
            <a:custGeom>
              <a:avLst/>
              <a:gdLst/>
              <a:ahLst/>
              <a:cxnLst/>
              <a:rect r="r" b="b" t="t" l="l"/>
              <a:pathLst>
                <a:path h="642954" w="1602393">
                  <a:moveTo>
                    <a:pt x="1602393" y="19088"/>
                  </a:moveTo>
                  <a:lnTo>
                    <a:pt x="1602393" y="623866"/>
                  </a:lnTo>
                  <a:cubicBezTo>
                    <a:pt x="1602393" y="634408"/>
                    <a:pt x="1593847" y="642954"/>
                    <a:pt x="1583305" y="642954"/>
                  </a:cubicBezTo>
                  <a:lnTo>
                    <a:pt x="19088" y="642954"/>
                  </a:lnTo>
                  <a:cubicBezTo>
                    <a:pt x="8546" y="642954"/>
                    <a:pt x="0" y="634408"/>
                    <a:pt x="0" y="62386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solidFill>
              <a:srgbClr val="FFD848"/>
            </a:solid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602393" cy="700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192533" y="7006167"/>
            <a:ext cx="6083938" cy="2441090"/>
            <a:chOff x="0" y="0"/>
            <a:chExt cx="1602393" cy="6429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02393" cy="642954"/>
            </a:xfrm>
            <a:custGeom>
              <a:avLst/>
              <a:gdLst/>
              <a:ahLst/>
              <a:cxnLst/>
              <a:rect r="r" b="b" t="t" l="l"/>
              <a:pathLst>
                <a:path h="642954" w="1602393">
                  <a:moveTo>
                    <a:pt x="1602393" y="19088"/>
                  </a:moveTo>
                  <a:lnTo>
                    <a:pt x="1602393" y="623866"/>
                  </a:lnTo>
                  <a:cubicBezTo>
                    <a:pt x="1602393" y="634408"/>
                    <a:pt x="1593847" y="642954"/>
                    <a:pt x="1583305" y="642954"/>
                  </a:cubicBezTo>
                  <a:lnTo>
                    <a:pt x="19088" y="642954"/>
                  </a:lnTo>
                  <a:cubicBezTo>
                    <a:pt x="8546" y="642954"/>
                    <a:pt x="0" y="634408"/>
                    <a:pt x="0" y="62386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solidFill>
              <a:srgbClr val="154D71"/>
            </a:solid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602393" cy="700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39267" y="4015066"/>
            <a:ext cx="1364578" cy="2441090"/>
            <a:chOff x="0" y="0"/>
            <a:chExt cx="312535" cy="5591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2535" cy="559109"/>
            </a:xfrm>
            <a:custGeom>
              <a:avLst/>
              <a:gdLst/>
              <a:ahLst/>
              <a:cxnLst/>
              <a:rect r="r" b="b" t="t" l="l"/>
              <a:pathLst>
                <a:path h="559109" w="312535">
                  <a:moveTo>
                    <a:pt x="312535" y="85102"/>
                  </a:moveTo>
                  <a:lnTo>
                    <a:pt x="312535" y="474006"/>
                  </a:lnTo>
                  <a:cubicBezTo>
                    <a:pt x="312535" y="496577"/>
                    <a:pt x="303569" y="518223"/>
                    <a:pt x="287610" y="534183"/>
                  </a:cubicBezTo>
                  <a:cubicBezTo>
                    <a:pt x="271650" y="550142"/>
                    <a:pt x="250004" y="559109"/>
                    <a:pt x="227433" y="559109"/>
                  </a:cubicBezTo>
                  <a:lnTo>
                    <a:pt x="85102" y="559109"/>
                  </a:lnTo>
                  <a:cubicBezTo>
                    <a:pt x="62532" y="559109"/>
                    <a:pt x="40886" y="550142"/>
                    <a:pt x="24926" y="534183"/>
                  </a:cubicBezTo>
                  <a:cubicBezTo>
                    <a:pt x="8966" y="518223"/>
                    <a:pt x="0" y="496577"/>
                    <a:pt x="0" y="474006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solidFill>
              <a:srgbClr val="154D71"/>
            </a:solid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12535" cy="61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40450" y="7006167"/>
            <a:ext cx="1364578" cy="2441090"/>
            <a:chOff x="0" y="0"/>
            <a:chExt cx="312535" cy="5591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2535" cy="559109"/>
            </a:xfrm>
            <a:custGeom>
              <a:avLst/>
              <a:gdLst/>
              <a:ahLst/>
              <a:cxnLst/>
              <a:rect r="r" b="b" t="t" l="l"/>
              <a:pathLst>
                <a:path h="559109" w="312535">
                  <a:moveTo>
                    <a:pt x="312535" y="85102"/>
                  </a:moveTo>
                  <a:lnTo>
                    <a:pt x="312535" y="474006"/>
                  </a:lnTo>
                  <a:cubicBezTo>
                    <a:pt x="312535" y="496577"/>
                    <a:pt x="303569" y="518223"/>
                    <a:pt x="287610" y="534183"/>
                  </a:cubicBezTo>
                  <a:cubicBezTo>
                    <a:pt x="271650" y="550142"/>
                    <a:pt x="250004" y="559109"/>
                    <a:pt x="227433" y="559109"/>
                  </a:cubicBezTo>
                  <a:lnTo>
                    <a:pt x="85102" y="559109"/>
                  </a:lnTo>
                  <a:cubicBezTo>
                    <a:pt x="62532" y="559109"/>
                    <a:pt x="40886" y="550142"/>
                    <a:pt x="24926" y="534183"/>
                  </a:cubicBezTo>
                  <a:cubicBezTo>
                    <a:pt x="8966" y="518223"/>
                    <a:pt x="0" y="496577"/>
                    <a:pt x="0" y="474006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solidFill>
              <a:srgbClr val="154D71"/>
            </a:solid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12535" cy="61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40450" y="4015066"/>
            <a:ext cx="1364578" cy="2441090"/>
            <a:chOff x="0" y="0"/>
            <a:chExt cx="312535" cy="5591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2535" cy="559109"/>
            </a:xfrm>
            <a:custGeom>
              <a:avLst/>
              <a:gdLst/>
              <a:ahLst/>
              <a:cxnLst/>
              <a:rect r="r" b="b" t="t" l="l"/>
              <a:pathLst>
                <a:path h="559109" w="312535">
                  <a:moveTo>
                    <a:pt x="312535" y="85102"/>
                  </a:moveTo>
                  <a:lnTo>
                    <a:pt x="312535" y="474006"/>
                  </a:lnTo>
                  <a:cubicBezTo>
                    <a:pt x="312535" y="496577"/>
                    <a:pt x="303569" y="518223"/>
                    <a:pt x="287610" y="534183"/>
                  </a:cubicBezTo>
                  <a:cubicBezTo>
                    <a:pt x="271650" y="550142"/>
                    <a:pt x="250004" y="559109"/>
                    <a:pt x="227433" y="559109"/>
                  </a:cubicBezTo>
                  <a:lnTo>
                    <a:pt x="85102" y="559109"/>
                  </a:lnTo>
                  <a:cubicBezTo>
                    <a:pt x="62532" y="559109"/>
                    <a:pt x="40886" y="550142"/>
                    <a:pt x="24926" y="534183"/>
                  </a:cubicBezTo>
                  <a:cubicBezTo>
                    <a:pt x="8966" y="518223"/>
                    <a:pt x="0" y="496577"/>
                    <a:pt x="0" y="474006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solidFill>
              <a:srgbClr val="FFD848"/>
            </a:solid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12535" cy="61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39267" y="7006167"/>
            <a:ext cx="1364578" cy="2441090"/>
            <a:chOff x="0" y="0"/>
            <a:chExt cx="312535" cy="55910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535" cy="559109"/>
            </a:xfrm>
            <a:custGeom>
              <a:avLst/>
              <a:gdLst/>
              <a:ahLst/>
              <a:cxnLst/>
              <a:rect r="r" b="b" t="t" l="l"/>
              <a:pathLst>
                <a:path h="559109" w="312535">
                  <a:moveTo>
                    <a:pt x="312535" y="85102"/>
                  </a:moveTo>
                  <a:lnTo>
                    <a:pt x="312535" y="474006"/>
                  </a:lnTo>
                  <a:cubicBezTo>
                    <a:pt x="312535" y="496577"/>
                    <a:pt x="303569" y="518223"/>
                    <a:pt x="287610" y="534183"/>
                  </a:cubicBezTo>
                  <a:cubicBezTo>
                    <a:pt x="271650" y="550142"/>
                    <a:pt x="250004" y="559109"/>
                    <a:pt x="227433" y="559109"/>
                  </a:cubicBezTo>
                  <a:lnTo>
                    <a:pt x="85102" y="559109"/>
                  </a:lnTo>
                  <a:cubicBezTo>
                    <a:pt x="62532" y="559109"/>
                    <a:pt x="40886" y="550142"/>
                    <a:pt x="24926" y="534183"/>
                  </a:cubicBezTo>
                  <a:cubicBezTo>
                    <a:pt x="8966" y="518223"/>
                    <a:pt x="0" y="496577"/>
                    <a:pt x="0" y="474006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solidFill>
              <a:srgbClr val="FFD848"/>
            </a:solid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312535" cy="61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768681" y="7539007"/>
            <a:ext cx="515039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Manual Record Keeping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68681" y="8103840"/>
            <a:ext cx="4345811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Physical registers at the medical center cause lost data and lack longitudinal health tracking.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68681" y="4459832"/>
            <a:ext cx="468871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Delayed Outbreak Detection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68681" y="4994651"/>
            <a:ext cx="4412486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Communicable illnesses spread across dorm floors before manual records reveal clustering.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61224" y="7561056"/>
            <a:ext cx="446120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Unstructured Submissions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61224" y="8103840"/>
            <a:ext cx="5198076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Students submit external doctor certificates via email/chat without standardized verification.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061224" y="4459832"/>
            <a:ext cx="446120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Communication Latency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61224" y="5105400"/>
            <a:ext cx="446120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Health advisories and quarantine alerts are delivered too late to halt secondary peer infections.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178794" y="1085850"/>
            <a:ext cx="9930412" cy="227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  <a:spcBef>
                <a:spcPct val="0"/>
              </a:spcBef>
            </a:pPr>
            <a:r>
              <a:t>Identified Operational Problems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27115" y="4919381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FCF5F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428298" y="7910482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FCF5F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428298" y="4919381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1D1D1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27115" y="7910482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1D1D1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04.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145915">
            <a:off x="13335903" y="1462963"/>
            <a:ext cx="1193316" cy="993707"/>
          </a:xfrm>
          <a:custGeom>
            <a:avLst/>
            <a:gdLst/>
            <a:ahLst/>
            <a:cxnLst/>
            <a:rect r="r" b="b" t="t" l="l"/>
            <a:pathLst>
              <a:path h="993707" w="1193316">
                <a:moveTo>
                  <a:pt x="0" y="0"/>
                </a:moveTo>
                <a:lnTo>
                  <a:pt x="1193316" y="0"/>
                </a:lnTo>
                <a:lnTo>
                  <a:pt x="1193316" y="993708"/>
                </a:lnTo>
                <a:lnTo>
                  <a:pt x="0" y="9937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3" id="43"/>
          <p:cNvSpPr/>
          <p:nvPr/>
        </p:nvSpPr>
        <p:spPr>
          <a:xfrm flipH="false" flipV="false" rot="-1015133">
            <a:off x="3927070" y="2558700"/>
            <a:ext cx="833616" cy="694174"/>
          </a:xfrm>
          <a:custGeom>
            <a:avLst/>
            <a:gdLst/>
            <a:ahLst/>
            <a:cxnLst/>
            <a:rect r="r" b="b" t="t" l="l"/>
            <a:pathLst>
              <a:path h="694174" w="833616">
                <a:moveTo>
                  <a:pt x="0" y="0"/>
                </a:moveTo>
                <a:lnTo>
                  <a:pt x="833615" y="0"/>
                </a:lnTo>
                <a:lnTo>
                  <a:pt x="833615" y="694175"/>
                </a:lnTo>
                <a:lnTo>
                  <a:pt x="0" y="6941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7295806">
            <a:off x="9494334" y="7760050"/>
            <a:ext cx="6847821" cy="4382605"/>
          </a:xfrm>
          <a:custGeom>
            <a:avLst/>
            <a:gdLst/>
            <a:ahLst/>
            <a:cxnLst/>
            <a:rect r="r" b="b" t="t" l="l"/>
            <a:pathLst>
              <a:path h="4382605" w="6847821">
                <a:moveTo>
                  <a:pt x="0" y="4382605"/>
                </a:moveTo>
                <a:lnTo>
                  <a:pt x="6847821" y="4382605"/>
                </a:lnTo>
                <a:lnTo>
                  <a:pt x="6847821" y="0"/>
                </a:lnTo>
                <a:lnTo>
                  <a:pt x="0" y="0"/>
                </a:lnTo>
                <a:lnTo>
                  <a:pt x="0" y="43826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9257872" y="4421739"/>
            <a:ext cx="4187073" cy="4366708"/>
            <a:chOff x="0" y="0"/>
            <a:chExt cx="1017199" cy="10608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7199" cy="1060868"/>
            </a:xfrm>
            <a:custGeom>
              <a:avLst/>
              <a:gdLst/>
              <a:ahLst/>
              <a:cxnLst/>
              <a:rect r="r" b="b" t="t" l="l"/>
              <a:pathLst>
                <a:path h="1060868" w="1017199">
                  <a:moveTo>
                    <a:pt x="1017199" y="27735"/>
                  </a:moveTo>
                  <a:lnTo>
                    <a:pt x="1017199" y="1033133"/>
                  </a:lnTo>
                  <a:cubicBezTo>
                    <a:pt x="1017199" y="1048450"/>
                    <a:pt x="1004782" y="1060868"/>
                    <a:pt x="989464" y="1060868"/>
                  </a:cubicBezTo>
                  <a:lnTo>
                    <a:pt x="27735" y="1060868"/>
                  </a:lnTo>
                  <a:cubicBezTo>
                    <a:pt x="20379" y="1060868"/>
                    <a:pt x="13325" y="1057946"/>
                    <a:pt x="8123" y="1052744"/>
                  </a:cubicBezTo>
                  <a:cubicBezTo>
                    <a:pt x="2922" y="1047543"/>
                    <a:pt x="0" y="1040488"/>
                    <a:pt x="0" y="1033133"/>
                  </a:cubicBezTo>
                  <a:lnTo>
                    <a:pt x="0" y="27735"/>
                  </a:lnTo>
                  <a:cubicBezTo>
                    <a:pt x="0" y="20379"/>
                    <a:pt x="2922" y="13325"/>
                    <a:pt x="8123" y="8123"/>
                  </a:cubicBezTo>
                  <a:cubicBezTo>
                    <a:pt x="13325" y="2922"/>
                    <a:pt x="20379" y="0"/>
                    <a:pt x="27735" y="0"/>
                  </a:cubicBezTo>
                  <a:lnTo>
                    <a:pt x="989464" y="0"/>
                  </a:lnTo>
                  <a:cubicBezTo>
                    <a:pt x="996820" y="0"/>
                    <a:pt x="1003874" y="2922"/>
                    <a:pt x="1009076" y="8123"/>
                  </a:cubicBezTo>
                  <a:cubicBezTo>
                    <a:pt x="1014277" y="13325"/>
                    <a:pt x="1017199" y="20379"/>
                    <a:pt x="1017199" y="27735"/>
                  </a:cubicBezTo>
                  <a:close/>
                </a:path>
              </a:pathLst>
            </a:custGeom>
            <a:solidFill>
              <a:srgbClr val="154D71"/>
            </a:solidFill>
          </p:spPr>
          <p:txBody>
            <a:bodyPr/>
            <a:p/>
          </p:txBody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017199" cy="1118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10365940">
            <a:off x="-1345895" y="18311"/>
            <a:ext cx="6847821" cy="4382605"/>
          </a:xfrm>
          <a:custGeom>
            <a:avLst/>
            <a:gdLst/>
            <a:ahLst/>
            <a:cxnLst/>
            <a:rect r="r" b="b" t="t" l="l"/>
            <a:pathLst>
              <a:path h="4382605" w="6847821">
                <a:moveTo>
                  <a:pt x="0" y="4382605"/>
                </a:moveTo>
                <a:lnTo>
                  <a:pt x="6847821" y="4382605"/>
                </a:lnTo>
                <a:lnTo>
                  <a:pt x="6847821" y="0"/>
                </a:lnTo>
                <a:lnTo>
                  <a:pt x="0" y="0"/>
                </a:lnTo>
                <a:lnTo>
                  <a:pt x="0" y="43826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true" flipV="false" rot="-5834059">
            <a:off x="7273776" y="-3111762"/>
            <a:ext cx="906879" cy="5799809"/>
          </a:xfrm>
          <a:custGeom>
            <a:avLst/>
            <a:gdLst/>
            <a:ahLst/>
            <a:cxnLst/>
            <a:rect r="r" b="b" t="t" l="l"/>
            <a:pathLst>
              <a:path h="5799809" w="906879">
                <a:moveTo>
                  <a:pt x="906880" y="0"/>
                </a:moveTo>
                <a:lnTo>
                  <a:pt x="0" y="0"/>
                </a:lnTo>
                <a:lnTo>
                  <a:pt x="0" y="5799809"/>
                </a:lnTo>
                <a:lnTo>
                  <a:pt x="906880" y="5799809"/>
                </a:lnTo>
                <a:lnTo>
                  <a:pt x="90688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4347946" y="1658751"/>
            <a:ext cx="11608701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t>Target System 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881318"/>
            <a:ext cx="3319246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t>Digital Symptom Intake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4126" y="5858333"/>
            <a:ext cx="2688393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t>Digital Symptom Intake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20406" y="5858333"/>
            <a:ext cx="3327501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t>Doctor Verification Queue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t>Doctor Verification Queue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17105" y="6881318"/>
            <a:ext cx="3668607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t>Equip medical officers with dual-pane verification tools to audit external tests and approve sick leaves.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46161" y="6881318"/>
            <a:ext cx="3413155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t>Continuously correlate case logs by Hall, Floor, and Batch to automatically flag contagion hot-spots.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36652" y="5858333"/>
            <a:ext cx="3229512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t>Spatial Cluster Detection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t>Spatial Cluster Detection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37982" y="5858333"/>
            <a:ext cx="3229512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t>Targeted Cohort Alerts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t>Targeted Cohort Alerts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50567" y="6881318"/>
            <a:ext cx="3267179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t>Doctor Verification Queue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93881" y="4902023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1D1D1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89715" y="4902023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1D1D1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56967" y="4902023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FCF5F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058297" y="4902023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1D1D1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04.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758538">
            <a:off x="16342580" y="690621"/>
            <a:ext cx="1207525" cy="1005539"/>
          </a:xfrm>
          <a:custGeom>
            <a:avLst/>
            <a:gdLst/>
            <a:ahLst/>
            <a:cxnLst/>
            <a:rect r="r" b="b" t="t" l="l"/>
            <a:pathLst>
              <a:path h="1005539" w="1207525">
                <a:moveTo>
                  <a:pt x="0" y="0"/>
                </a:moveTo>
                <a:lnTo>
                  <a:pt x="1207526" y="0"/>
                </a:lnTo>
                <a:lnTo>
                  <a:pt x="1207526" y="1005540"/>
                </a:lnTo>
                <a:lnTo>
                  <a:pt x="0" y="10055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2" id="22"/>
          <p:cNvSpPr/>
          <p:nvPr/>
        </p:nvSpPr>
        <p:spPr>
          <a:xfrm flipH="false" flipV="false" rot="-1239821">
            <a:off x="8001919" y="8844545"/>
            <a:ext cx="1126657" cy="938198"/>
          </a:xfrm>
          <a:custGeom>
            <a:avLst/>
            <a:gdLst/>
            <a:ahLst/>
            <a:cxnLst/>
            <a:rect r="r" b="b" t="t" l="l"/>
            <a:pathLst>
              <a:path h="938198" w="1126657">
                <a:moveTo>
                  <a:pt x="0" y="0"/>
                </a:moveTo>
                <a:lnTo>
                  <a:pt x="1126656" y="0"/>
                </a:lnTo>
                <a:lnTo>
                  <a:pt x="1126656" y="938197"/>
                </a:lnTo>
                <a:lnTo>
                  <a:pt x="0" y="9381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7295806">
            <a:off x="10021034" y="8478235"/>
            <a:ext cx="6847821" cy="4382605"/>
          </a:xfrm>
          <a:custGeom>
            <a:avLst/>
            <a:gdLst/>
            <a:ahLst/>
            <a:cxnLst/>
            <a:rect r="r" b="b" t="t" l="l"/>
            <a:pathLst>
              <a:path h="4382605" w="6847821">
                <a:moveTo>
                  <a:pt x="0" y="4382605"/>
                </a:moveTo>
                <a:lnTo>
                  <a:pt x="6847821" y="4382605"/>
                </a:lnTo>
                <a:lnTo>
                  <a:pt x="6847821" y="0"/>
                </a:lnTo>
                <a:lnTo>
                  <a:pt x="0" y="0"/>
                </a:lnTo>
                <a:lnTo>
                  <a:pt x="0" y="43826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9257872" y="4421739"/>
            <a:ext cx="4187073" cy="4891905"/>
            <a:chOff x="0" y="0"/>
            <a:chExt cx="1017199" cy="11884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7199" cy="1188461"/>
            </a:xfrm>
            <a:custGeom>
              <a:avLst/>
              <a:gdLst/>
              <a:ahLst/>
              <a:cxnLst/>
              <a:rect r="r" b="b" t="t" l="l"/>
              <a:pathLst>
                <a:path h="1188461" w="1017199">
                  <a:moveTo>
                    <a:pt x="1017199" y="27735"/>
                  </a:moveTo>
                  <a:lnTo>
                    <a:pt x="1017199" y="1160726"/>
                  </a:lnTo>
                  <a:cubicBezTo>
                    <a:pt x="1017199" y="1176044"/>
                    <a:pt x="1004782" y="1188461"/>
                    <a:pt x="989464" y="1188461"/>
                  </a:cubicBezTo>
                  <a:lnTo>
                    <a:pt x="27735" y="1188461"/>
                  </a:lnTo>
                  <a:cubicBezTo>
                    <a:pt x="20379" y="1188461"/>
                    <a:pt x="13325" y="1185539"/>
                    <a:pt x="8123" y="1180338"/>
                  </a:cubicBezTo>
                  <a:cubicBezTo>
                    <a:pt x="2922" y="1175136"/>
                    <a:pt x="0" y="1168082"/>
                    <a:pt x="0" y="1160726"/>
                  </a:cubicBezTo>
                  <a:lnTo>
                    <a:pt x="0" y="27735"/>
                  </a:lnTo>
                  <a:cubicBezTo>
                    <a:pt x="0" y="20379"/>
                    <a:pt x="2922" y="13325"/>
                    <a:pt x="8123" y="8123"/>
                  </a:cubicBezTo>
                  <a:cubicBezTo>
                    <a:pt x="13325" y="2922"/>
                    <a:pt x="20379" y="0"/>
                    <a:pt x="27735" y="0"/>
                  </a:cubicBezTo>
                  <a:lnTo>
                    <a:pt x="989464" y="0"/>
                  </a:lnTo>
                  <a:cubicBezTo>
                    <a:pt x="996820" y="0"/>
                    <a:pt x="1003874" y="2922"/>
                    <a:pt x="1009076" y="8123"/>
                  </a:cubicBezTo>
                  <a:cubicBezTo>
                    <a:pt x="1014277" y="13325"/>
                    <a:pt x="1017199" y="20379"/>
                    <a:pt x="1017199" y="27735"/>
                  </a:cubicBezTo>
                  <a:close/>
                </a:path>
              </a:pathLst>
            </a:custGeom>
            <a:solidFill>
              <a:srgbClr val="154D71"/>
            </a:solidFill>
          </p:spPr>
          <p:txBody>
            <a:bodyPr/>
            <a:p/>
          </p:txBody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017199" cy="1245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10365940">
            <a:off x="-1345895" y="18311"/>
            <a:ext cx="6847821" cy="4382605"/>
          </a:xfrm>
          <a:custGeom>
            <a:avLst/>
            <a:gdLst/>
            <a:ahLst/>
            <a:cxnLst/>
            <a:rect r="r" b="b" t="t" l="l"/>
            <a:pathLst>
              <a:path h="4382605" w="6847821">
                <a:moveTo>
                  <a:pt x="0" y="4382605"/>
                </a:moveTo>
                <a:lnTo>
                  <a:pt x="6847821" y="4382605"/>
                </a:lnTo>
                <a:lnTo>
                  <a:pt x="6847821" y="0"/>
                </a:lnTo>
                <a:lnTo>
                  <a:pt x="0" y="0"/>
                </a:lnTo>
                <a:lnTo>
                  <a:pt x="0" y="43826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true" flipV="false" rot="-5834059">
            <a:off x="7273776" y="-3111762"/>
            <a:ext cx="906879" cy="5799809"/>
          </a:xfrm>
          <a:custGeom>
            <a:avLst/>
            <a:gdLst/>
            <a:ahLst/>
            <a:cxnLst/>
            <a:rect r="r" b="b" t="t" l="l"/>
            <a:pathLst>
              <a:path h="5799809" w="906879">
                <a:moveTo>
                  <a:pt x="906880" y="0"/>
                </a:moveTo>
                <a:lnTo>
                  <a:pt x="0" y="0"/>
                </a:lnTo>
                <a:lnTo>
                  <a:pt x="0" y="5799809"/>
                </a:lnTo>
                <a:lnTo>
                  <a:pt x="906880" y="5799809"/>
                </a:lnTo>
                <a:lnTo>
                  <a:pt x="90688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4347946" y="1658751"/>
            <a:ext cx="11608701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t>Feasibility Study Matrix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881318"/>
            <a:ext cx="3319246" cy="22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t>Built with lightweight web architecture (HTML5/CSS/JS + REST API + PostgreSQL) accessible on all student/clinic devices.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4126" y="5858333"/>
            <a:ext cx="268839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t>Technical Feasibility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20406" y="5858333"/>
            <a:ext cx="3327501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t>Economic Feasibility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17105" y="6881318"/>
            <a:ext cx="3668607" cy="18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t>Zero Capex on new hardware; hosted directly on existing IUT infrastructure; prevents costly campus closures.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46161" y="6881318"/>
            <a:ext cx="3413155" cy="22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t>Dual-pane verification slashes medical triage review time from 10 minutes to under 60 seconds with high adoption.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36652" y="5858333"/>
            <a:ext cx="3229512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t>Operational Feasibility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37982" y="5858333"/>
            <a:ext cx="3229512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t>Security &amp; Privacy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50567" y="6881318"/>
            <a:ext cx="3267179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t>Role-Based Access Control (RBAC) and HIPAA-aligned confidentiality strictly protecting student medical records.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93881" y="4902023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1D1D1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89715" y="4902023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1D1D1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56967" y="4902023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FCF5F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058297" y="4902023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1D1D1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04.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758538">
            <a:off x="16342580" y="690621"/>
            <a:ext cx="1207525" cy="1005539"/>
          </a:xfrm>
          <a:custGeom>
            <a:avLst/>
            <a:gdLst/>
            <a:ahLst/>
            <a:cxnLst/>
            <a:rect r="r" b="b" t="t" l="l"/>
            <a:pathLst>
              <a:path h="1005539" w="1207525">
                <a:moveTo>
                  <a:pt x="0" y="0"/>
                </a:moveTo>
                <a:lnTo>
                  <a:pt x="1207526" y="0"/>
                </a:lnTo>
                <a:lnTo>
                  <a:pt x="1207526" y="1005540"/>
                </a:lnTo>
                <a:lnTo>
                  <a:pt x="0" y="10055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2" id="22"/>
          <p:cNvSpPr/>
          <p:nvPr/>
        </p:nvSpPr>
        <p:spPr>
          <a:xfrm flipH="false" flipV="false" rot="-1239821">
            <a:off x="8001919" y="8844545"/>
            <a:ext cx="1126657" cy="938198"/>
          </a:xfrm>
          <a:custGeom>
            <a:avLst/>
            <a:gdLst/>
            <a:ahLst/>
            <a:cxnLst/>
            <a:rect r="r" b="b" t="t" l="l"/>
            <a:pathLst>
              <a:path h="938198" w="1126657">
                <a:moveTo>
                  <a:pt x="0" y="0"/>
                </a:moveTo>
                <a:lnTo>
                  <a:pt x="1126656" y="0"/>
                </a:lnTo>
                <a:lnTo>
                  <a:pt x="1126656" y="938197"/>
                </a:lnTo>
                <a:lnTo>
                  <a:pt x="0" y="9381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096987">
            <a:off x="-1966952" y="5462957"/>
            <a:ext cx="6847821" cy="4382605"/>
          </a:xfrm>
          <a:custGeom>
            <a:avLst/>
            <a:gdLst/>
            <a:ahLst/>
            <a:cxnLst/>
            <a:rect r="r" b="b" t="t" l="l"/>
            <a:pathLst>
              <a:path h="4382605" w="6847821">
                <a:moveTo>
                  <a:pt x="0" y="4382605"/>
                </a:moveTo>
                <a:lnTo>
                  <a:pt x="6847821" y="4382605"/>
                </a:lnTo>
                <a:lnTo>
                  <a:pt x="6847821" y="0"/>
                </a:lnTo>
                <a:lnTo>
                  <a:pt x="0" y="0"/>
                </a:lnTo>
                <a:lnTo>
                  <a:pt x="0" y="43826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045871" y="4015066"/>
            <a:ext cx="6083938" cy="2441090"/>
            <a:chOff x="0" y="0"/>
            <a:chExt cx="1602393" cy="6429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2393" cy="642954"/>
            </a:xfrm>
            <a:custGeom>
              <a:avLst/>
              <a:gdLst/>
              <a:ahLst/>
              <a:cxnLst/>
              <a:rect r="r" b="b" t="t" l="l"/>
              <a:pathLst>
                <a:path h="642954" w="1602393">
                  <a:moveTo>
                    <a:pt x="1602393" y="19088"/>
                  </a:moveTo>
                  <a:lnTo>
                    <a:pt x="1602393" y="623866"/>
                  </a:lnTo>
                  <a:cubicBezTo>
                    <a:pt x="1602393" y="634408"/>
                    <a:pt x="1593847" y="642954"/>
                    <a:pt x="1583305" y="642954"/>
                  </a:cubicBezTo>
                  <a:lnTo>
                    <a:pt x="19088" y="642954"/>
                  </a:lnTo>
                  <a:cubicBezTo>
                    <a:pt x="8546" y="642954"/>
                    <a:pt x="0" y="634408"/>
                    <a:pt x="0" y="62386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solidFill>
              <a:srgbClr val="154D71"/>
            </a:solidFill>
          </p:spPr>
          <p:txBody>
            <a:bodyPr/>
            <a:p/>
          </p:txBody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602393" cy="700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5871" y="7006167"/>
            <a:ext cx="6083938" cy="2441090"/>
            <a:chOff x="0" y="0"/>
            <a:chExt cx="1602393" cy="6429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2393" cy="642954"/>
            </a:xfrm>
            <a:custGeom>
              <a:avLst/>
              <a:gdLst/>
              <a:ahLst/>
              <a:cxnLst/>
              <a:rect r="r" b="b" t="t" l="l"/>
              <a:pathLst>
                <a:path h="642954" w="1602393">
                  <a:moveTo>
                    <a:pt x="1602393" y="19088"/>
                  </a:moveTo>
                  <a:lnTo>
                    <a:pt x="1602393" y="623866"/>
                  </a:lnTo>
                  <a:cubicBezTo>
                    <a:pt x="1602393" y="634408"/>
                    <a:pt x="1593847" y="642954"/>
                    <a:pt x="1583305" y="642954"/>
                  </a:cubicBezTo>
                  <a:lnTo>
                    <a:pt x="19088" y="642954"/>
                  </a:lnTo>
                  <a:cubicBezTo>
                    <a:pt x="8546" y="642954"/>
                    <a:pt x="0" y="634408"/>
                    <a:pt x="0" y="62386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solidFill>
              <a:srgbClr val="FFD848"/>
            </a:solid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602393" cy="700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-854058">
            <a:off x="13515476" y="4789687"/>
            <a:ext cx="6847821" cy="4382605"/>
          </a:xfrm>
          <a:custGeom>
            <a:avLst/>
            <a:gdLst/>
            <a:ahLst/>
            <a:cxnLst/>
            <a:rect r="r" b="b" t="t" l="l"/>
            <a:pathLst>
              <a:path h="4382605" w="6847821">
                <a:moveTo>
                  <a:pt x="0" y="4382605"/>
                </a:moveTo>
                <a:lnTo>
                  <a:pt x="6847821" y="4382605"/>
                </a:lnTo>
                <a:lnTo>
                  <a:pt x="6847821" y="0"/>
                </a:lnTo>
                <a:lnTo>
                  <a:pt x="0" y="0"/>
                </a:lnTo>
                <a:lnTo>
                  <a:pt x="0" y="43826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true" flipV="false" rot="4545941">
            <a:off x="11173957" y="7172969"/>
            <a:ext cx="906879" cy="5799809"/>
          </a:xfrm>
          <a:custGeom>
            <a:avLst/>
            <a:gdLst/>
            <a:ahLst/>
            <a:cxnLst/>
            <a:rect r="r" b="b" t="t" l="l"/>
            <a:pathLst>
              <a:path h="5799809" w="906879">
                <a:moveTo>
                  <a:pt x="906879" y="0"/>
                </a:moveTo>
                <a:lnTo>
                  <a:pt x="0" y="0"/>
                </a:lnTo>
                <a:lnTo>
                  <a:pt x="0" y="5799810"/>
                </a:lnTo>
                <a:lnTo>
                  <a:pt x="906879" y="5799810"/>
                </a:lnTo>
                <a:lnTo>
                  <a:pt x="90687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0">
            <a:off x="11192533" y="4015066"/>
            <a:ext cx="6083938" cy="2441090"/>
            <a:chOff x="0" y="0"/>
            <a:chExt cx="1602393" cy="6429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02393" cy="642954"/>
            </a:xfrm>
            <a:custGeom>
              <a:avLst/>
              <a:gdLst/>
              <a:ahLst/>
              <a:cxnLst/>
              <a:rect r="r" b="b" t="t" l="l"/>
              <a:pathLst>
                <a:path h="642954" w="1602393">
                  <a:moveTo>
                    <a:pt x="1602393" y="19088"/>
                  </a:moveTo>
                  <a:lnTo>
                    <a:pt x="1602393" y="623866"/>
                  </a:lnTo>
                  <a:cubicBezTo>
                    <a:pt x="1602393" y="634408"/>
                    <a:pt x="1593847" y="642954"/>
                    <a:pt x="1583305" y="642954"/>
                  </a:cubicBezTo>
                  <a:lnTo>
                    <a:pt x="19088" y="642954"/>
                  </a:lnTo>
                  <a:cubicBezTo>
                    <a:pt x="8546" y="642954"/>
                    <a:pt x="0" y="634408"/>
                    <a:pt x="0" y="62386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solidFill>
              <a:srgbClr val="FFD848"/>
            </a:solid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602393" cy="700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192533" y="7006167"/>
            <a:ext cx="6083938" cy="2441090"/>
            <a:chOff x="0" y="0"/>
            <a:chExt cx="1602393" cy="6429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02393" cy="642954"/>
            </a:xfrm>
            <a:custGeom>
              <a:avLst/>
              <a:gdLst/>
              <a:ahLst/>
              <a:cxnLst/>
              <a:rect r="r" b="b" t="t" l="l"/>
              <a:pathLst>
                <a:path h="642954" w="1602393">
                  <a:moveTo>
                    <a:pt x="1602393" y="19088"/>
                  </a:moveTo>
                  <a:lnTo>
                    <a:pt x="1602393" y="623866"/>
                  </a:lnTo>
                  <a:cubicBezTo>
                    <a:pt x="1602393" y="634408"/>
                    <a:pt x="1593847" y="642954"/>
                    <a:pt x="1583305" y="642954"/>
                  </a:cubicBezTo>
                  <a:lnTo>
                    <a:pt x="19088" y="642954"/>
                  </a:lnTo>
                  <a:cubicBezTo>
                    <a:pt x="8546" y="642954"/>
                    <a:pt x="0" y="634408"/>
                    <a:pt x="0" y="62386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solidFill>
              <a:srgbClr val="154D71"/>
            </a:solid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602393" cy="700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39267" y="4015066"/>
            <a:ext cx="1364578" cy="2441090"/>
            <a:chOff x="0" y="0"/>
            <a:chExt cx="312535" cy="5591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2535" cy="559109"/>
            </a:xfrm>
            <a:custGeom>
              <a:avLst/>
              <a:gdLst/>
              <a:ahLst/>
              <a:cxnLst/>
              <a:rect r="r" b="b" t="t" l="l"/>
              <a:pathLst>
                <a:path h="559109" w="312535">
                  <a:moveTo>
                    <a:pt x="312535" y="85102"/>
                  </a:moveTo>
                  <a:lnTo>
                    <a:pt x="312535" y="474006"/>
                  </a:lnTo>
                  <a:cubicBezTo>
                    <a:pt x="312535" y="496577"/>
                    <a:pt x="303569" y="518223"/>
                    <a:pt x="287610" y="534183"/>
                  </a:cubicBezTo>
                  <a:cubicBezTo>
                    <a:pt x="271650" y="550142"/>
                    <a:pt x="250004" y="559109"/>
                    <a:pt x="227433" y="559109"/>
                  </a:cubicBezTo>
                  <a:lnTo>
                    <a:pt x="85102" y="559109"/>
                  </a:lnTo>
                  <a:cubicBezTo>
                    <a:pt x="62532" y="559109"/>
                    <a:pt x="40886" y="550142"/>
                    <a:pt x="24926" y="534183"/>
                  </a:cubicBezTo>
                  <a:cubicBezTo>
                    <a:pt x="8966" y="518223"/>
                    <a:pt x="0" y="496577"/>
                    <a:pt x="0" y="474006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solidFill>
              <a:srgbClr val="154D71"/>
            </a:solid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12535" cy="61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40450" y="7006167"/>
            <a:ext cx="1364578" cy="2441090"/>
            <a:chOff x="0" y="0"/>
            <a:chExt cx="312535" cy="5591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2535" cy="559109"/>
            </a:xfrm>
            <a:custGeom>
              <a:avLst/>
              <a:gdLst/>
              <a:ahLst/>
              <a:cxnLst/>
              <a:rect r="r" b="b" t="t" l="l"/>
              <a:pathLst>
                <a:path h="559109" w="312535">
                  <a:moveTo>
                    <a:pt x="312535" y="85102"/>
                  </a:moveTo>
                  <a:lnTo>
                    <a:pt x="312535" y="474006"/>
                  </a:lnTo>
                  <a:cubicBezTo>
                    <a:pt x="312535" y="496577"/>
                    <a:pt x="303569" y="518223"/>
                    <a:pt x="287610" y="534183"/>
                  </a:cubicBezTo>
                  <a:cubicBezTo>
                    <a:pt x="271650" y="550142"/>
                    <a:pt x="250004" y="559109"/>
                    <a:pt x="227433" y="559109"/>
                  </a:cubicBezTo>
                  <a:lnTo>
                    <a:pt x="85102" y="559109"/>
                  </a:lnTo>
                  <a:cubicBezTo>
                    <a:pt x="62532" y="559109"/>
                    <a:pt x="40886" y="550142"/>
                    <a:pt x="24926" y="534183"/>
                  </a:cubicBezTo>
                  <a:cubicBezTo>
                    <a:pt x="8966" y="518223"/>
                    <a:pt x="0" y="496577"/>
                    <a:pt x="0" y="474006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solidFill>
              <a:srgbClr val="154D71"/>
            </a:solid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12535" cy="61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40450" y="4015066"/>
            <a:ext cx="1364578" cy="2441090"/>
            <a:chOff x="0" y="0"/>
            <a:chExt cx="312535" cy="5591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2535" cy="559109"/>
            </a:xfrm>
            <a:custGeom>
              <a:avLst/>
              <a:gdLst/>
              <a:ahLst/>
              <a:cxnLst/>
              <a:rect r="r" b="b" t="t" l="l"/>
              <a:pathLst>
                <a:path h="559109" w="312535">
                  <a:moveTo>
                    <a:pt x="312535" y="85102"/>
                  </a:moveTo>
                  <a:lnTo>
                    <a:pt x="312535" y="474006"/>
                  </a:lnTo>
                  <a:cubicBezTo>
                    <a:pt x="312535" y="496577"/>
                    <a:pt x="303569" y="518223"/>
                    <a:pt x="287610" y="534183"/>
                  </a:cubicBezTo>
                  <a:cubicBezTo>
                    <a:pt x="271650" y="550142"/>
                    <a:pt x="250004" y="559109"/>
                    <a:pt x="227433" y="559109"/>
                  </a:cubicBezTo>
                  <a:lnTo>
                    <a:pt x="85102" y="559109"/>
                  </a:lnTo>
                  <a:cubicBezTo>
                    <a:pt x="62532" y="559109"/>
                    <a:pt x="40886" y="550142"/>
                    <a:pt x="24926" y="534183"/>
                  </a:cubicBezTo>
                  <a:cubicBezTo>
                    <a:pt x="8966" y="518223"/>
                    <a:pt x="0" y="496577"/>
                    <a:pt x="0" y="474006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solidFill>
              <a:srgbClr val="FFD848"/>
            </a:solid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12535" cy="61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39267" y="7006167"/>
            <a:ext cx="1364578" cy="2441090"/>
            <a:chOff x="0" y="0"/>
            <a:chExt cx="312535" cy="55910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535" cy="559109"/>
            </a:xfrm>
            <a:custGeom>
              <a:avLst/>
              <a:gdLst/>
              <a:ahLst/>
              <a:cxnLst/>
              <a:rect r="r" b="b" t="t" l="l"/>
              <a:pathLst>
                <a:path h="559109" w="312535">
                  <a:moveTo>
                    <a:pt x="312535" y="85102"/>
                  </a:moveTo>
                  <a:lnTo>
                    <a:pt x="312535" y="474006"/>
                  </a:lnTo>
                  <a:cubicBezTo>
                    <a:pt x="312535" y="496577"/>
                    <a:pt x="303569" y="518223"/>
                    <a:pt x="287610" y="534183"/>
                  </a:cubicBezTo>
                  <a:cubicBezTo>
                    <a:pt x="271650" y="550142"/>
                    <a:pt x="250004" y="559109"/>
                    <a:pt x="227433" y="559109"/>
                  </a:cubicBezTo>
                  <a:lnTo>
                    <a:pt x="85102" y="559109"/>
                  </a:lnTo>
                  <a:cubicBezTo>
                    <a:pt x="62532" y="559109"/>
                    <a:pt x="40886" y="550142"/>
                    <a:pt x="24926" y="534183"/>
                  </a:cubicBezTo>
                  <a:cubicBezTo>
                    <a:pt x="8966" y="518223"/>
                    <a:pt x="0" y="496577"/>
                    <a:pt x="0" y="474006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solidFill>
              <a:srgbClr val="FFD848"/>
            </a:solid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312535" cy="61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768681" y="7644735"/>
            <a:ext cx="515039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Stakeholder Interviews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68681" y="8178135"/>
            <a:ext cx="4345811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Conducted semi-structured interviews with the Chief Medical Officer, duty doctors, and hall provosts on daily bottlenecks.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68681" y="4459832"/>
            <a:ext cx="468871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Student Body Surveys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68681" y="4994651"/>
            <a:ext cx="441248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Student Body Surveys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61224" y="7644735"/>
            <a:ext cx="446120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Clinical Log Sampling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61224" y="8178135"/>
            <a:ext cx="446120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Audited 6 months of historical paper registers at the IUT Medical Center to extract primary viral symptom taxonomies.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CF5F5"/>
                </a:solidFill>
                <a:latin typeface="DM Sans"/>
                <a:ea typeface="DM Sans"/>
                <a:cs typeface="DM Sans"/>
                <a:sym typeface="DM Sans"/>
              </a:rPr>
              <a:t>the system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061224" y="4459832"/>
            <a:ext cx="446120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Sick-Leave Document Review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18270" y="4994651"/>
            <a:ext cx="4461209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Inspected past medical leave applications to map required verification fields, leave criteria, and fraud risks.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178794" y="1085850"/>
            <a:ext cx="9930412" cy="227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  <a:spcBef>
                <a:spcPct val="0"/>
              </a:spcBef>
            </a:pPr>
            <a:r>
              <a:t>Information Gathering Methods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27115" y="4919381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FCF5F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428298" y="7910482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FCF5F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428298" y="4919381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1D1D1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27115" y="7910482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1D1D1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04.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145915">
            <a:off x="14129751" y="777163"/>
            <a:ext cx="1193316" cy="993707"/>
          </a:xfrm>
          <a:custGeom>
            <a:avLst/>
            <a:gdLst/>
            <a:ahLst/>
            <a:cxnLst/>
            <a:rect r="r" b="b" t="t" l="l"/>
            <a:pathLst>
              <a:path h="993707" w="1193316">
                <a:moveTo>
                  <a:pt x="0" y="0"/>
                </a:moveTo>
                <a:lnTo>
                  <a:pt x="1193317" y="0"/>
                </a:lnTo>
                <a:lnTo>
                  <a:pt x="1193317" y="993708"/>
                </a:lnTo>
                <a:lnTo>
                  <a:pt x="0" y="9937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3" id="43"/>
          <p:cNvSpPr/>
          <p:nvPr/>
        </p:nvSpPr>
        <p:spPr>
          <a:xfrm flipH="false" flipV="false" rot="-1015133">
            <a:off x="2988924" y="2358628"/>
            <a:ext cx="833616" cy="694174"/>
          </a:xfrm>
          <a:custGeom>
            <a:avLst/>
            <a:gdLst/>
            <a:ahLst/>
            <a:cxnLst/>
            <a:rect r="r" b="b" t="t" l="l"/>
            <a:pathLst>
              <a:path h="694174" w="833616">
                <a:moveTo>
                  <a:pt x="0" y="0"/>
                </a:moveTo>
                <a:lnTo>
                  <a:pt x="833616" y="0"/>
                </a:lnTo>
                <a:lnTo>
                  <a:pt x="833616" y="694175"/>
                </a:lnTo>
                <a:lnTo>
                  <a:pt x="0" y="6941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4698" y="-1859518"/>
            <a:ext cx="4539624" cy="4223274"/>
          </a:xfrm>
          <a:custGeom>
            <a:avLst/>
            <a:gdLst/>
            <a:ahLst/>
            <a:cxnLst/>
            <a:rect r="r" b="b" t="t" l="l"/>
            <a:pathLst>
              <a:path h="4223274" w="4539624">
                <a:moveTo>
                  <a:pt x="0" y="0"/>
                </a:moveTo>
                <a:lnTo>
                  <a:pt x="4539624" y="0"/>
                </a:lnTo>
                <a:lnTo>
                  <a:pt x="4539624" y="4223274"/>
                </a:lnTo>
                <a:lnTo>
                  <a:pt x="0" y="4223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4636384" y="6459385"/>
            <a:ext cx="4507382" cy="4193279"/>
          </a:xfrm>
          <a:custGeom>
            <a:avLst/>
            <a:gdLst/>
            <a:ahLst/>
            <a:cxnLst/>
            <a:rect r="r" b="b" t="t" l="l"/>
            <a:pathLst>
              <a:path h="4193279" w="4507382">
                <a:moveTo>
                  <a:pt x="0" y="0"/>
                </a:moveTo>
                <a:lnTo>
                  <a:pt x="4507382" y="0"/>
                </a:lnTo>
                <a:lnTo>
                  <a:pt x="4507382" y="4193278"/>
                </a:lnTo>
                <a:lnTo>
                  <a:pt x="0" y="4193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4706643" y="2206496"/>
            <a:ext cx="727680" cy="4653765"/>
          </a:xfrm>
          <a:custGeom>
            <a:avLst/>
            <a:gdLst/>
            <a:ahLst/>
            <a:cxnLst/>
            <a:rect r="r" b="b" t="t" l="l"/>
            <a:pathLst>
              <a:path h="4653765" w="727680">
                <a:moveTo>
                  <a:pt x="0" y="0"/>
                </a:moveTo>
                <a:lnTo>
                  <a:pt x="727679" y="0"/>
                </a:lnTo>
                <a:lnTo>
                  <a:pt x="727679" y="4653766"/>
                </a:lnTo>
                <a:lnTo>
                  <a:pt x="0" y="4653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4430563" y="4242977"/>
            <a:ext cx="1279840" cy="12798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848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30563" y="1830647"/>
            <a:ext cx="1279840" cy="127984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4D71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30563" y="6657351"/>
            <a:ext cx="1279840" cy="12798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4D71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746718" y="6963806"/>
            <a:ext cx="647529" cy="666930"/>
          </a:xfrm>
          <a:custGeom>
            <a:avLst/>
            <a:gdLst/>
            <a:ahLst/>
            <a:cxnLst/>
            <a:rect r="r" b="b" t="t" l="l"/>
            <a:pathLst>
              <a:path h="666930" w="647529">
                <a:moveTo>
                  <a:pt x="0" y="0"/>
                </a:moveTo>
                <a:lnTo>
                  <a:pt x="647529" y="0"/>
                </a:lnTo>
                <a:lnTo>
                  <a:pt x="647529" y="666930"/>
                </a:lnTo>
                <a:lnTo>
                  <a:pt x="0" y="666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4726680" y="2126765"/>
            <a:ext cx="687604" cy="687604"/>
          </a:xfrm>
          <a:custGeom>
            <a:avLst/>
            <a:gdLst/>
            <a:ahLst/>
            <a:cxnLst/>
            <a:rect r="r" b="b" t="t" l="l"/>
            <a:pathLst>
              <a:path h="687604" w="687604">
                <a:moveTo>
                  <a:pt x="0" y="0"/>
                </a:moveTo>
                <a:lnTo>
                  <a:pt x="687604" y="0"/>
                </a:lnTo>
                <a:lnTo>
                  <a:pt x="687604" y="687604"/>
                </a:lnTo>
                <a:lnTo>
                  <a:pt x="0" y="6876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9144000" y="4242977"/>
            <a:ext cx="8391803" cy="5431785"/>
          </a:xfrm>
          <a:custGeom>
            <a:avLst/>
            <a:gdLst/>
            <a:ahLst/>
            <a:cxnLst/>
            <a:rect r="r" b="b" t="t" l="l"/>
            <a:pathLst>
              <a:path h="5431785" w="8391803">
                <a:moveTo>
                  <a:pt x="0" y="0"/>
                </a:moveTo>
                <a:lnTo>
                  <a:pt x="8391803" y="0"/>
                </a:lnTo>
                <a:lnTo>
                  <a:pt x="8391803" y="5431785"/>
                </a:lnTo>
                <a:lnTo>
                  <a:pt x="0" y="54317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4753357" y="4553805"/>
            <a:ext cx="634250" cy="658184"/>
          </a:xfrm>
          <a:custGeom>
            <a:avLst/>
            <a:gdLst/>
            <a:ahLst/>
            <a:cxnLst/>
            <a:rect r="r" b="b" t="t" l="l"/>
            <a:pathLst>
              <a:path h="658184" w="634250">
                <a:moveTo>
                  <a:pt x="0" y="0"/>
                </a:moveTo>
                <a:lnTo>
                  <a:pt x="634250" y="0"/>
                </a:lnTo>
                <a:lnTo>
                  <a:pt x="634250" y="658184"/>
                </a:lnTo>
                <a:lnTo>
                  <a:pt x="0" y="6581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8" id="18"/>
          <p:cNvSpPr txBox="true"/>
          <p:nvPr/>
        </p:nvSpPr>
        <p:spPr>
          <a:xfrm rot="0">
            <a:off x="6031392" y="4633317"/>
            <a:ext cx="3527563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520"/>
              </a:lnSpc>
              <a:spcBef>
                <a:spcPct val="0"/>
              </a:spcBef>
            </a:pPr>
            <a:r>
              <a:t>FR-1: Student Profile &amp; Dorm Registration | FR-2: External Symptom Ingestion | FR-3: Medical Verification Queue | FR-4: Dynamic Cohort Alerts | FR-5: Outbreak Heatmaps.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57126" y="4185827"/>
            <a:ext cx="367609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t>Functional Requirements (FR)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0107" y="2579588"/>
            <a:ext cx="3687179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520"/>
              </a:lnSpc>
              <a:spcBef>
                <a:spcPct val="0"/>
              </a:spcBef>
            </a:pPr>
            <a:r>
              <a:t>NFR-1: HIPAA-Aligned Medical Data Privacy | NFR-2: Sub-200ms Validation Latency | NFR-3: 99.9% High Availability | NFR-4: Full Device Responsiveness.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6760" y="7287294"/>
            <a:ext cx="3313874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t>Eliminates clinic walking fatigue for students, provides verified patient histories for doctors, and delivers real-time cluster visibility for provosts.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0107" y="1773497"/>
            <a:ext cx="359704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t>Non-Functional Requirements (NFR)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6474" y="6483384"/>
            <a:ext cx="3034446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t>Stakeholder Alignment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13309" y="1591727"/>
            <a:ext cx="7053185" cy="180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9"/>
              </a:lnSpc>
              <a:spcBef>
                <a:spcPct val="0"/>
              </a:spcBef>
            </a:pPr>
            <a:r>
              <a:t>System Requirements (FR &amp; NFR)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145915">
            <a:off x="6293417" y="8761446"/>
            <a:ext cx="1193316" cy="993707"/>
          </a:xfrm>
          <a:custGeom>
            <a:avLst/>
            <a:gdLst/>
            <a:ahLst/>
            <a:cxnLst/>
            <a:rect r="r" b="b" t="t" l="l"/>
            <a:pathLst>
              <a:path h="993707" w="1193316">
                <a:moveTo>
                  <a:pt x="0" y="0"/>
                </a:moveTo>
                <a:lnTo>
                  <a:pt x="1193316" y="0"/>
                </a:lnTo>
                <a:lnTo>
                  <a:pt x="1193316" y="993708"/>
                </a:lnTo>
                <a:lnTo>
                  <a:pt x="0" y="9937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6" id="26"/>
          <p:cNvSpPr/>
          <p:nvPr/>
        </p:nvSpPr>
        <p:spPr>
          <a:xfrm flipH="false" flipV="false" rot="-316341">
            <a:off x="8280254" y="2083363"/>
            <a:ext cx="833616" cy="694174"/>
          </a:xfrm>
          <a:custGeom>
            <a:avLst/>
            <a:gdLst/>
            <a:ahLst/>
            <a:cxnLst/>
            <a:rect r="r" b="b" t="t" l="l"/>
            <a:pathLst>
              <a:path h="694174" w="833616">
                <a:moveTo>
                  <a:pt x="0" y="0"/>
                </a:moveTo>
                <a:lnTo>
                  <a:pt x="833616" y="0"/>
                </a:lnTo>
                <a:lnTo>
                  <a:pt x="833616" y="694174"/>
                </a:lnTo>
                <a:lnTo>
                  <a:pt x="0" y="69417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096987">
            <a:off x="-1966952" y="5462957"/>
            <a:ext cx="6847821" cy="4382605"/>
          </a:xfrm>
          <a:custGeom>
            <a:avLst/>
            <a:gdLst/>
            <a:ahLst/>
            <a:cxnLst/>
            <a:rect r="r" b="b" t="t" l="l"/>
            <a:pathLst>
              <a:path h="4382605" w="6847821">
                <a:moveTo>
                  <a:pt x="0" y="4382605"/>
                </a:moveTo>
                <a:lnTo>
                  <a:pt x="6847821" y="4382605"/>
                </a:lnTo>
                <a:lnTo>
                  <a:pt x="6847821" y="0"/>
                </a:lnTo>
                <a:lnTo>
                  <a:pt x="0" y="0"/>
                </a:lnTo>
                <a:lnTo>
                  <a:pt x="0" y="43826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045871" y="4015066"/>
            <a:ext cx="6083938" cy="2441090"/>
            <a:chOff x="0" y="0"/>
            <a:chExt cx="1602393" cy="6429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2393" cy="642954"/>
            </a:xfrm>
            <a:custGeom>
              <a:avLst/>
              <a:gdLst/>
              <a:ahLst/>
              <a:cxnLst/>
              <a:rect r="r" b="b" t="t" l="l"/>
              <a:pathLst>
                <a:path h="642954" w="1602393">
                  <a:moveTo>
                    <a:pt x="1602393" y="19088"/>
                  </a:moveTo>
                  <a:lnTo>
                    <a:pt x="1602393" y="623866"/>
                  </a:lnTo>
                  <a:cubicBezTo>
                    <a:pt x="1602393" y="634408"/>
                    <a:pt x="1593847" y="642954"/>
                    <a:pt x="1583305" y="642954"/>
                  </a:cubicBezTo>
                  <a:lnTo>
                    <a:pt x="19088" y="642954"/>
                  </a:lnTo>
                  <a:cubicBezTo>
                    <a:pt x="8546" y="642954"/>
                    <a:pt x="0" y="634408"/>
                    <a:pt x="0" y="62386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solidFill>
              <a:srgbClr val="154D71"/>
            </a:solidFill>
          </p:spPr>
          <p:txBody>
            <a:bodyPr/>
            <a:p/>
          </p:txBody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602393" cy="700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5871" y="7006167"/>
            <a:ext cx="6083938" cy="2441090"/>
            <a:chOff x="0" y="0"/>
            <a:chExt cx="1602393" cy="6429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2393" cy="642954"/>
            </a:xfrm>
            <a:custGeom>
              <a:avLst/>
              <a:gdLst/>
              <a:ahLst/>
              <a:cxnLst/>
              <a:rect r="r" b="b" t="t" l="l"/>
              <a:pathLst>
                <a:path h="642954" w="1602393">
                  <a:moveTo>
                    <a:pt x="1602393" y="19088"/>
                  </a:moveTo>
                  <a:lnTo>
                    <a:pt x="1602393" y="623866"/>
                  </a:lnTo>
                  <a:cubicBezTo>
                    <a:pt x="1602393" y="634408"/>
                    <a:pt x="1593847" y="642954"/>
                    <a:pt x="1583305" y="642954"/>
                  </a:cubicBezTo>
                  <a:lnTo>
                    <a:pt x="19088" y="642954"/>
                  </a:lnTo>
                  <a:cubicBezTo>
                    <a:pt x="8546" y="642954"/>
                    <a:pt x="0" y="634408"/>
                    <a:pt x="0" y="62386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solidFill>
              <a:srgbClr val="FFD848"/>
            </a:solid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602393" cy="700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-854058">
            <a:off x="13515476" y="4789687"/>
            <a:ext cx="6847821" cy="4382605"/>
          </a:xfrm>
          <a:custGeom>
            <a:avLst/>
            <a:gdLst/>
            <a:ahLst/>
            <a:cxnLst/>
            <a:rect r="r" b="b" t="t" l="l"/>
            <a:pathLst>
              <a:path h="4382605" w="6847821">
                <a:moveTo>
                  <a:pt x="0" y="4382605"/>
                </a:moveTo>
                <a:lnTo>
                  <a:pt x="6847821" y="4382605"/>
                </a:lnTo>
                <a:lnTo>
                  <a:pt x="6847821" y="0"/>
                </a:lnTo>
                <a:lnTo>
                  <a:pt x="0" y="0"/>
                </a:lnTo>
                <a:lnTo>
                  <a:pt x="0" y="43826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true" flipV="false" rot="4545941">
            <a:off x="11173957" y="7172969"/>
            <a:ext cx="906879" cy="5799809"/>
          </a:xfrm>
          <a:custGeom>
            <a:avLst/>
            <a:gdLst/>
            <a:ahLst/>
            <a:cxnLst/>
            <a:rect r="r" b="b" t="t" l="l"/>
            <a:pathLst>
              <a:path h="5799809" w="906879">
                <a:moveTo>
                  <a:pt x="906879" y="0"/>
                </a:moveTo>
                <a:lnTo>
                  <a:pt x="0" y="0"/>
                </a:lnTo>
                <a:lnTo>
                  <a:pt x="0" y="5799810"/>
                </a:lnTo>
                <a:lnTo>
                  <a:pt x="906879" y="5799810"/>
                </a:lnTo>
                <a:lnTo>
                  <a:pt x="90687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0">
            <a:off x="11192533" y="4015066"/>
            <a:ext cx="6083938" cy="2441090"/>
            <a:chOff x="0" y="0"/>
            <a:chExt cx="1602393" cy="6429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02393" cy="642954"/>
            </a:xfrm>
            <a:custGeom>
              <a:avLst/>
              <a:gdLst/>
              <a:ahLst/>
              <a:cxnLst/>
              <a:rect r="r" b="b" t="t" l="l"/>
              <a:pathLst>
                <a:path h="642954" w="1602393">
                  <a:moveTo>
                    <a:pt x="1602393" y="19088"/>
                  </a:moveTo>
                  <a:lnTo>
                    <a:pt x="1602393" y="623866"/>
                  </a:lnTo>
                  <a:cubicBezTo>
                    <a:pt x="1602393" y="634408"/>
                    <a:pt x="1593847" y="642954"/>
                    <a:pt x="1583305" y="642954"/>
                  </a:cubicBezTo>
                  <a:lnTo>
                    <a:pt x="19088" y="642954"/>
                  </a:lnTo>
                  <a:cubicBezTo>
                    <a:pt x="8546" y="642954"/>
                    <a:pt x="0" y="634408"/>
                    <a:pt x="0" y="62386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solidFill>
              <a:srgbClr val="FFD848"/>
            </a:solid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602393" cy="700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192533" y="7006167"/>
            <a:ext cx="6083938" cy="2441090"/>
            <a:chOff x="0" y="0"/>
            <a:chExt cx="1602393" cy="6429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02393" cy="642954"/>
            </a:xfrm>
            <a:custGeom>
              <a:avLst/>
              <a:gdLst/>
              <a:ahLst/>
              <a:cxnLst/>
              <a:rect r="r" b="b" t="t" l="l"/>
              <a:pathLst>
                <a:path h="642954" w="1602393">
                  <a:moveTo>
                    <a:pt x="1602393" y="19088"/>
                  </a:moveTo>
                  <a:lnTo>
                    <a:pt x="1602393" y="623866"/>
                  </a:lnTo>
                  <a:cubicBezTo>
                    <a:pt x="1602393" y="634408"/>
                    <a:pt x="1593847" y="642954"/>
                    <a:pt x="1583305" y="642954"/>
                  </a:cubicBezTo>
                  <a:lnTo>
                    <a:pt x="19088" y="642954"/>
                  </a:lnTo>
                  <a:cubicBezTo>
                    <a:pt x="8546" y="642954"/>
                    <a:pt x="0" y="634408"/>
                    <a:pt x="0" y="623866"/>
                  </a:cubicBezTo>
                  <a:lnTo>
                    <a:pt x="0" y="19088"/>
                  </a:lnTo>
                  <a:cubicBezTo>
                    <a:pt x="0" y="8546"/>
                    <a:pt x="8546" y="0"/>
                    <a:pt x="19088" y="0"/>
                  </a:cubicBezTo>
                  <a:lnTo>
                    <a:pt x="1583305" y="0"/>
                  </a:lnTo>
                  <a:cubicBezTo>
                    <a:pt x="1593847" y="0"/>
                    <a:pt x="1602393" y="8546"/>
                    <a:pt x="1602393" y="19088"/>
                  </a:cubicBezTo>
                  <a:close/>
                </a:path>
              </a:pathLst>
            </a:custGeom>
            <a:solidFill>
              <a:srgbClr val="154D71"/>
            </a:solid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602393" cy="700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39267" y="4015066"/>
            <a:ext cx="1364578" cy="2441090"/>
            <a:chOff x="0" y="0"/>
            <a:chExt cx="312535" cy="5591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2535" cy="559109"/>
            </a:xfrm>
            <a:custGeom>
              <a:avLst/>
              <a:gdLst/>
              <a:ahLst/>
              <a:cxnLst/>
              <a:rect r="r" b="b" t="t" l="l"/>
              <a:pathLst>
                <a:path h="559109" w="312535">
                  <a:moveTo>
                    <a:pt x="312535" y="85102"/>
                  </a:moveTo>
                  <a:lnTo>
                    <a:pt x="312535" y="474006"/>
                  </a:lnTo>
                  <a:cubicBezTo>
                    <a:pt x="312535" y="496577"/>
                    <a:pt x="303569" y="518223"/>
                    <a:pt x="287610" y="534183"/>
                  </a:cubicBezTo>
                  <a:cubicBezTo>
                    <a:pt x="271650" y="550142"/>
                    <a:pt x="250004" y="559109"/>
                    <a:pt x="227433" y="559109"/>
                  </a:cubicBezTo>
                  <a:lnTo>
                    <a:pt x="85102" y="559109"/>
                  </a:lnTo>
                  <a:cubicBezTo>
                    <a:pt x="62532" y="559109"/>
                    <a:pt x="40886" y="550142"/>
                    <a:pt x="24926" y="534183"/>
                  </a:cubicBezTo>
                  <a:cubicBezTo>
                    <a:pt x="8966" y="518223"/>
                    <a:pt x="0" y="496577"/>
                    <a:pt x="0" y="474006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solidFill>
              <a:srgbClr val="154D71"/>
            </a:solid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12535" cy="61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40450" y="7006167"/>
            <a:ext cx="1364578" cy="2441090"/>
            <a:chOff x="0" y="0"/>
            <a:chExt cx="312535" cy="5591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2535" cy="559109"/>
            </a:xfrm>
            <a:custGeom>
              <a:avLst/>
              <a:gdLst/>
              <a:ahLst/>
              <a:cxnLst/>
              <a:rect r="r" b="b" t="t" l="l"/>
              <a:pathLst>
                <a:path h="559109" w="312535">
                  <a:moveTo>
                    <a:pt x="312535" y="85102"/>
                  </a:moveTo>
                  <a:lnTo>
                    <a:pt x="312535" y="474006"/>
                  </a:lnTo>
                  <a:cubicBezTo>
                    <a:pt x="312535" y="496577"/>
                    <a:pt x="303569" y="518223"/>
                    <a:pt x="287610" y="534183"/>
                  </a:cubicBezTo>
                  <a:cubicBezTo>
                    <a:pt x="271650" y="550142"/>
                    <a:pt x="250004" y="559109"/>
                    <a:pt x="227433" y="559109"/>
                  </a:cubicBezTo>
                  <a:lnTo>
                    <a:pt x="85102" y="559109"/>
                  </a:lnTo>
                  <a:cubicBezTo>
                    <a:pt x="62532" y="559109"/>
                    <a:pt x="40886" y="550142"/>
                    <a:pt x="24926" y="534183"/>
                  </a:cubicBezTo>
                  <a:cubicBezTo>
                    <a:pt x="8966" y="518223"/>
                    <a:pt x="0" y="496577"/>
                    <a:pt x="0" y="474006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solidFill>
              <a:srgbClr val="154D71"/>
            </a:solid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12535" cy="61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40450" y="4015066"/>
            <a:ext cx="1364578" cy="2441090"/>
            <a:chOff x="0" y="0"/>
            <a:chExt cx="312535" cy="5591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2535" cy="559109"/>
            </a:xfrm>
            <a:custGeom>
              <a:avLst/>
              <a:gdLst/>
              <a:ahLst/>
              <a:cxnLst/>
              <a:rect r="r" b="b" t="t" l="l"/>
              <a:pathLst>
                <a:path h="559109" w="312535">
                  <a:moveTo>
                    <a:pt x="312535" y="85102"/>
                  </a:moveTo>
                  <a:lnTo>
                    <a:pt x="312535" y="474006"/>
                  </a:lnTo>
                  <a:cubicBezTo>
                    <a:pt x="312535" y="496577"/>
                    <a:pt x="303569" y="518223"/>
                    <a:pt x="287610" y="534183"/>
                  </a:cubicBezTo>
                  <a:cubicBezTo>
                    <a:pt x="271650" y="550142"/>
                    <a:pt x="250004" y="559109"/>
                    <a:pt x="227433" y="559109"/>
                  </a:cubicBezTo>
                  <a:lnTo>
                    <a:pt x="85102" y="559109"/>
                  </a:lnTo>
                  <a:cubicBezTo>
                    <a:pt x="62532" y="559109"/>
                    <a:pt x="40886" y="550142"/>
                    <a:pt x="24926" y="534183"/>
                  </a:cubicBezTo>
                  <a:cubicBezTo>
                    <a:pt x="8966" y="518223"/>
                    <a:pt x="0" y="496577"/>
                    <a:pt x="0" y="474006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solidFill>
              <a:srgbClr val="FFD848"/>
            </a:solid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12535" cy="61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39267" y="7006167"/>
            <a:ext cx="1364578" cy="2441090"/>
            <a:chOff x="0" y="0"/>
            <a:chExt cx="312535" cy="55910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535" cy="559109"/>
            </a:xfrm>
            <a:custGeom>
              <a:avLst/>
              <a:gdLst/>
              <a:ahLst/>
              <a:cxnLst/>
              <a:rect r="r" b="b" t="t" l="l"/>
              <a:pathLst>
                <a:path h="559109" w="312535">
                  <a:moveTo>
                    <a:pt x="312535" y="85102"/>
                  </a:moveTo>
                  <a:lnTo>
                    <a:pt x="312535" y="474006"/>
                  </a:lnTo>
                  <a:cubicBezTo>
                    <a:pt x="312535" y="496577"/>
                    <a:pt x="303569" y="518223"/>
                    <a:pt x="287610" y="534183"/>
                  </a:cubicBezTo>
                  <a:cubicBezTo>
                    <a:pt x="271650" y="550142"/>
                    <a:pt x="250004" y="559109"/>
                    <a:pt x="227433" y="559109"/>
                  </a:cubicBezTo>
                  <a:lnTo>
                    <a:pt x="85102" y="559109"/>
                  </a:lnTo>
                  <a:cubicBezTo>
                    <a:pt x="62532" y="559109"/>
                    <a:pt x="40886" y="550142"/>
                    <a:pt x="24926" y="534183"/>
                  </a:cubicBezTo>
                  <a:cubicBezTo>
                    <a:pt x="8966" y="518223"/>
                    <a:pt x="0" y="496577"/>
                    <a:pt x="0" y="474006"/>
                  </a:cubicBezTo>
                  <a:lnTo>
                    <a:pt x="0" y="85102"/>
                  </a:lnTo>
                  <a:cubicBezTo>
                    <a:pt x="0" y="62532"/>
                    <a:pt x="8966" y="40886"/>
                    <a:pt x="24926" y="24926"/>
                  </a:cubicBezTo>
                  <a:cubicBezTo>
                    <a:pt x="40886" y="8966"/>
                    <a:pt x="62532" y="0"/>
                    <a:pt x="85102" y="0"/>
                  </a:cubicBezTo>
                  <a:lnTo>
                    <a:pt x="227433" y="0"/>
                  </a:lnTo>
                  <a:cubicBezTo>
                    <a:pt x="250004" y="0"/>
                    <a:pt x="271650" y="8966"/>
                    <a:pt x="287610" y="24926"/>
                  </a:cubicBezTo>
                  <a:cubicBezTo>
                    <a:pt x="303569" y="40886"/>
                    <a:pt x="312535" y="62532"/>
                    <a:pt x="312535" y="85102"/>
                  </a:cubicBezTo>
                  <a:close/>
                </a:path>
              </a:pathLst>
            </a:custGeom>
            <a:solidFill>
              <a:srgbClr val="FFD848"/>
            </a:solid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312535" cy="61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768681" y="7644735"/>
            <a:ext cx="515039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Process 0.0 System Core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68681" y="8178135"/>
            <a:ext cx="4345811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Central Disease Spread Prevention System mediating all clinical workflows, data storage, and alert generation.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68681" y="4459832"/>
            <a:ext cx="468871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Entity: Student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68681" y="4994651"/>
            <a:ext cx="4412486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Submits profile updates, symptom logs, and medical certificates; receives verified advice, leave status, and advisories.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61224" y="7644735"/>
            <a:ext cx="446120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Entity: Medical Staff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61224" y="8178135"/>
            <a:ext cx="446120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Receives unverified student symptom triage queue; inputs clinical diagnoses, verification decisions, and prescribed actions.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061224" y="4459832"/>
            <a:ext cx="446120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Entity: Authorities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18270" y="4994651"/>
            <a:ext cx="446120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Hall Provosts &amp; University Leadership receive spatial outbreak heatmaps, statistical trends, and issue quarantine directives.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178794" y="1085850"/>
            <a:ext cx="9930412" cy="227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  <a:spcBef>
                <a:spcPct val="0"/>
              </a:spcBef>
            </a:pPr>
            <a:r>
              <a:t>Context Diagram (DFD Level 0)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27115" y="4919381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FCF5F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428298" y="7910482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FCF5F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428298" y="4919381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1D1D1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27115" y="7910482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1D1D1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04.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145915">
            <a:off x="14129751" y="777163"/>
            <a:ext cx="1193316" cy="993707"/>
          </a:xfrm>
          <a:custGeom>
            <a:avLst/>
            <a:gdLst/>
            <a:ahLst/>
            <a:cxnLst/>
            <a:rect r="r" b="b" t="t" l="l"/>
            <a:pathLst>
              <a:path h="993707" w="1193316">
                <a:moveTo>
                  <a:pt x="0" y="0"/>
                </a:moveTo>
                <a:lnTo>
                  <a:pt x="1193317" y="0"/>
                </a:lnTo>
                <a:lnTo>
                  <a:pt x="1193317" y="993708"/>
                </a:lnTo>
                <a:lnTo>
                  <a:pt x="0" y="9937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3" id="43"/>
          <p:cNvSpPr/>
          <p:nvPr/>
        </p:nvSpPr>
        <p:spPr>
          <a:xfrm flipH="false" flipV="false" rot="-1015133">
            <a:off x="2988924" y="2358628"/>
            <a:ext cx="833616" cy="694174"/>
          </a:xfrm>
          <a:custGeom>
            <a:avLst/>
            <a:gdLst/>
            <a:ahLst/>
            <a:cxnLst/>
            <a:rect r="r" b="b" t="t" l="l"/>
            <a:pathLst>
              <a:path h="694174" w="833616">
                <a:moveTo>
                  <a:pt x="0" y="0"/>
                </a:moveTo>
                <a:lnTo>
                  <a:pt x="833616" y="0"/>
                </a:lnTo>
                <a:lnTo>
                  <a:pt x="833616" y="694175"/>
                </a:lnTo>
                <a:lnTo>
                  <a:pt x="0" y="6941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75153" y="6486041"/>
            <a:ext cx="6185548" cy="2362528"/>
            <a:chOff x="0" y="0"/>
            <a:chExt cx="1416703" cy="5411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703" cy="541115"/>
            </a:xfrm>
            <a:custGeom>
              <a:avLst/>
              <a:gdLst/>
              <a:ahLst/>
              <a:cxnLst/>
              <a:rect r="r" b="b" t="t" l="l"/>
              <a:pathLst>
                <a:path h="541115" w="1416703">
                  <a:moveTo>
                    <a:pt x="1416703" y="18774"/>
                  </a:moveTo>
                  <a:lnTo>
                    <a:pt x="1416703" y="522340"/>
                  </a:lnTo>
                  <a:cubicBezTo>
                    <a:pt x="1416703" y="527320"/>
                    <a:pt x="1414725" y="532095"/>
                    <a:pt x="1411205" y="535616"/>
                  </a:cubicBezTo>
                  <a:cubicBezTo>
                    <a:pt x="1407684" y="539137"/>
                    <a:pt x="1402908" y="541115"/>
                    <a:pt x="1397929" y="541115"/>
                  </a:cubicBezTo>
                  <a:lnTo>
                    <a:pt x="18774" y="541115"/>
                  </a:lnTo>
                  <a:cubicBezTo>
                    <a:pt x="13795" y="541115"/>
                    <a:pt x="9020" y="539137"/>
                    <a:pt x="5499" y="535616"/>
                  </a:cubicBezTo>
                  <a:cubicBezTo>
                    <a:pt x="1978" y="532095"/>
                    <a:pt x="0" y="527320"/>
                    <a:pt x="0" y="522340"/>
                  </a:cubicBezTo>
                  <a:lnTo>
                    <a:pt x="0" y="18774"/>
                  </a:lnTo>
                  <a:cubicBezTo>
                    <a:pt x="0" y="13795"/>
                    <a:pt x="1978" y="9020"/>
                    <a:pt x="5499" y="5499"/>
                  </a:cubicBezTo>
                  <a:cubicBezTo>
                    <a:pt x="9020" y="1978"/>
                    <a:pt x="13795" y="0"/>
                    <a:pt x="18774" y="0"/>
                  </a:cubicBezTo>
                  <a:lnTo>
                    <a:pt x="1397929" y="0"/>
                  </a:lnTo>
                  <a:cubicBezTo>
                    <a:pt x="1402908" y="0"/>
                    <a:pt x="1407684" y="1978"/>
                    <a:pt x="1411205" y="5499"/>
                  </a:cubicBezTo>
                  <a:cubicBezTo>
                    <a:pt x="1414725" y="9020"/>
                    <a:pt x="1416703" y="13795"/>
                    <a:pt x="1416703" y="18774"/>
                  </a:cubicBezTo>
                  <a:close/>
                </a:path>
              </a:pathLst>
            </a:custGeom>
            <a:solidFill>
              <a:srgbClr val="154D71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416703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75153" y="3898791"/>
            <a:ext cx="6185548" cy="2362528"/>
            <a:chOff x="0" y="0"/>
            <a:chExt cx="1416703" cy="5411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16703" cy="541115"/>
            </a:xfrm>
            <a:custGeom>
              <a:avLst/>
              <a:gdLst/>
              <a:ahLst/>
              <a:cxnLst/>
              <a:rect r="r" b="b" t="t" l="l"/>
              <a:pathLst>
                <a:path h="541115" w="1416703">
                  <a:moveTo>
                    <a:pt x="1416703" y="18774"/>
                  </a:moveTo>
                  <a:lnTo>
                    <a:pt x="1416703" y="522340"/>
                  </a:lnTo>
                  <a:cubicBezTo>
                    <a:pt x="1416703" y="527320"/>
                    <a:pt x="1414725" y="532095"/>
                    <a:pt x="1411205" y="535616"/>
                  </a:cubicBezTo>
                  <a:cubicBezTo>
                    <a:pt x="1407684" y="539137"/>
                    <a:pt x="1402908" y="541115"/>
                    <a:pt x="1397929" y="541115"/>
                  </a:cubicBezTo>
                  <a:lnTo>
                    <a:pt x="18774" y="541115"/>
                  </a:lnTo>
                  <a:cubicBezTo>
                    <a:pt x="13795" y="541115"/>
                    <a:pt x="9020" y="539137"/>
                    <a:pt x="5499" y="535616"/>
                  </a:cubicBezTo>
                  <a:cubicBezTo>
                    <a:pt x="1978" y="532095"/>
                    <a:pt x="0" y="527320"/>
                    <a:pt x="0" y="522340"/>
                  </a:cubicBezTo>
                  <a:lnTo>
                    <a:pt x="0" y="18774"/>
                  </a:lnTo>
                  <a:cubicBezTo>
                    <a:pt x="0" y="13795"/>
                    <a:pt x="1978" y="9020"/>
                    <a:pt x="5499" y="5499"/>
                  </a:cubicBezTo>
                  <a:cubicBezTo>
                    <a:pt x="9020" y="1978"/>
                    <a:pt x="13795" y="0"/>
                    <a:pt x="18774" y="0"/>
                  </a:cubicBezTo>
                  <a:lnTo>
                    <a:pt x="1397929" y="0"/>
                  </a:lnTo>
                  <a:cubicBezTo>
                    <a:pt x="1402908" y="0"/>
                    <a:pt x="1407684" y="1978"/>
                    <a:pt x="1411205" y="5499"/>
                  </a:cubicBezTo>
                  <a:cubicBezTo>
                    <a:pt x="1414725" y="9020"/>
                    <a:pt x="1416703" y="13795"/>
                    <a:pt x="1416703" y="18774"/>
                  </a:cubicBezTo>
                  <a:close/>
                </a:path>
              </a:pathLst>
            </a:custGeom>
            <a:solidFill>
              <a:srgbClr val="FFD848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416703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75153" y="1327585"/>
            <a:ext cx="6185548" cy="2362528"/>
            <a:chOff x="0" y="0"/>
            <a:chExt cx="1416703" cy="5411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16703" cy="541115"/>
            </a:xfrm>
            <a:custGeom>
              <a:avLst/>
              <a:gdLst/>
              <a:ahLst/>
              <a:cxnLst/>
              <a:rect r="r" b="b" t="t" l="l"/>
              <a:pathLst>
                <a:path h="541115" w="1416703">
                  <a:moveTo>
                    <a:pt x="1416703" y="18774"/>
                  </a:moveTo>
                  <a:lnTo>
                    <a:pt x="1416703" y="522340"/>
                  </a:lnTo>
                  <a:cubicBezTo>
                    <a:pt x="1416703" y="527320"/>
                    <a:pt x="1414725" y="532095"/>
                    <a:pt x="1411205" y="535616"/>
                  </a:cubicBezTo>
                  <a:cubicBezTo>
                    <a:pt x="1407684" y="539137"/>
                    <a:pt x="1402908" y="541115"/>
                    <a:pt x="1397929" y="541115"/>
                  </a:cubicBezTo>
                  <a:lnTo>
                    <a:pt x="18774" y="541115"/>
                  </a:lnTo>
                  <a:cubicBezTo>
                    <a:pt x="13795" y="541115"/>
                    <a:pt x="9020" y="539137"/>
                    <a:pt x="5499" y="535616"/>
                  </a:cubicBezTo>
                  <a:cubicBezTo>
                    <a:pt x="1978" y="532095"/>
                    <a:pt x="0" y="527320"/>
                    <a:pt x="0" y="522340"/>
                  </a:cubicBezTo>
                  <a:lnTo>
                    <a:pt x="0" y="18774"/>
                  </a:lnTo>
                  <a:cubicBezTo>
                    <a:pt x="0" y="13795"/>
                    <a:pt x="1978" y="9020"/>
                    <a:pt x="5499" y="5499"/>
                  </a:cubicBezTo>
                  <a:cubicBezTo>
                    <a:pt x="9020" y="1978"/>
                    <a:pt x="13795" y="0"/>
                    <a:pt x="18774" y="0"/>
                  </a:cubicBezTo>
                  <a:lnTo>
                    <a:pt x="1397929" y="0"/>
                  </a:lnTo>
                  <a:cubicBezTo>
                    <a:pt x="1402908" y="0"/>
                    <a:pt x="1407684" y="1978"/>
                    <a:pt x="1411205" y="5499"/>
                  </a:cubicBezTo>
                  <a:cubicBezTo>
                    <a:pt x="1414725" y="9020"/>
                    <a:pt x="1416703" y="13795"/>
                    <a:pt x="1416703" y="18774"/>
                  </a:cubicBezTo>
                  <a:close/>
                </a:path>
              </a:pathLst>
            </a:custGeom>
            <a:solidFill>
              <a:srgbClr val="FFD848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416703" cy="59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5400000">
            <a:off x="14954453" y="6434115"/>
            <a:ext cx="1000298" cy="6397252"/>
          </a:xfrm>
          <a:custGeom>
            <a:avLst/>
            <a:gdLst/>
            <a:ahLst/>
            <a:cxnLst/>
            <a:rect r="r" b="b" t="t" l="l"/>
            <a:pathLst>
              <a:path h="6397252" w="1000298">
                <a:moveTo>
                  <a:pt x="0" y="0"/>
                </a:moveTo>
                <a:lnTo>
                  <a:pt x="1000297" y="0"/>
                </a:lnTo>
                <a:lnTo>
                  <a:pt x="1000297" y="6397251"/>
                </a:lnTo>
                <a:lnTo>
                  <a:pt x="0" y="6397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5400000">
            <a:off x="8659608" y="6434115"/>
            <a:ext cx="1000298" cy="6397252"/>
          </a:xfrm>
          <a:custGeom>
            <a:avLst/>
            <a:gdLst/>
            <a:ahLst/>
            <a:cxnLst/>
            <a:rect r="r" b="b" t="t" l="l"/>
            <a:pathLst>
              <a:path h="6397252" w="1000298">
                <a:moveTo>
                  <a:pt x="0" y="0"/>
                </a:moveTo>
                <a:lnTo>
                  <a:pt x="1000298" y="0"/>
                </a:lnTo>
                <a:lnTo>
                  <a:pt x="1000298" y="6397251"/>
                </a:lnTo>
                <a:lnTo>
                  <a:pt x="0" y="6397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5400000">
            <a:off x="2333250" y="6434115"/>
            <a:ext cx="1000298" cy="6397252"/>
          </a:xfrm>
          <a:custGeom>
            <a:avLst/>
            <a:gdLst/>
            <a:ahLst/>
            <a:cxnLst/>
            <a:rect r="r" b="b" t="t" l="l"/>
            <a:pathLst>
              <a:path h="6397252" w="1000298">
                <a:moveTo>
                  <a:pt x="0" y="0"/>
                </a:moveTo>
                <a:lnTo>
                  <a:pt x="1000297" y="0"/>
                </a:lnTo>
                <a:lnTo>
                  <a:pt x="1000297" y="6397251"/>
                </a:lnTo>
                <a:lnTo>
                  <a:pt x="0" y="6397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4" id="14"/>
          <p:cNvGrpSpPr/>
          <p:nvPr/>
        </p:nvGrpSpPr>
        <p:grpSpPr>
          <a:xfrm rot="0">
            <a:off x="15942109" y="2245877"/>
            <a:ext cx="697705" cy="525944"/>
            <a:chOff x="0" y="0"/>
            <a:chExt cx="159798" cy="1204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9798" cy="120462"/>
            </a:xfrm>
            <a:custGeom>
              <a:avLst/>
              <a:gdLst/>
              <a:ahLst/>
              <a:cxnLst/>
              <a:rect r="r" b="b" t="t" l="l"/>
              <a:pathLst>
                <a:path h="120462" w="159798">
                  <a:moveTo>
                    <a:pt x="159798" y="60231"/>
                  </a:moveTo>
                  <a:lnTo>
                    <a:pt x="159798" y="60231"/>
                  </a:lnTo>
                  <a:cubicBezTo>
                    <a:pt x="159798" y="93496"/>
                    <a:pt x="132832" y="120462"/>
                    <a:pt x="99567" y="120462"/>
                  </a:cubicBezTo>
                  <a:lnTo>
                    <a:pt x="60231" y="120462"/>
                  </a:lnTo>
                  <a:cubicBezTo>
                    <a:pt x="26966" y="120462"/>
                    <a:pt x="0" y="93496"/>
                    <a:pt x="0" y="60231"/>
                  </a:cubicBezTo>
                  <a:lnTo>
                    <a:pt x="0" y="60231"/>
                  </a:lnTo>
                  <a:cubicBezTo>
                    <a:pt x="0" y="26966"/>
                    <a:pt x="26966" y="0"/>
                    <a:pt x="60231" y="0"/>
                  </a:cubicBezTo>
                  <a:lnTo>
                    <a:pt x="99567" y="0"/>
                  </a:lnTo>
                  <a:cubicBezTo>
                    <a:pt x="132832" y="0"/>
                    <a:pt x="159798" y="26966"/>
                    <a:pt x="159798" y="60231"/>
                  </a:cubicBezTo>
                  <a:close/>
                </a:path>
              </a:pathLst>
            </a:custGeom>
            <a:solidFill>
              <a:srgbClr val="154D71"/>
            </a:solid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59798" cy="177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942109" y="4817083"/>
            <a:ext cx="697705" cy="525944"/>
            <a:chOff x="0" y="0"/>
            <a:chExt cx="159798" cy="1204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9798" cy="120462"/>
            </a:xfrm>
            <a:custGeom>
              <a:avLst/>
              <a:gdLst/>
              <a:ahLst/>
              <a:cxnLst/>
              <a:rect r="r" b="b" t="t" l="l"/>
              <a:pathLst>
                <a:path h="120462" w="159798">
                  <a:moveTo>
                    <a:pt x="159798" y="60231"/>
                  </a:moveTo>
                  <a:lnTo>
                    <a:pt x="159798" y="60231"/>
                  </a:lnTo>
                  <a:cubicBezTo>
                    <a:pt x="159798" y="93496"/>
                    <a:pt x="132832" y="120462"/>
                    <a:pt x="99567" y="120462"/>
                  </a:cubicBezTo>
                  <a:lnTo>
                    <a:pt x="60231" y="120462"/>
                  </a:lnTo>
                  <a:cubicBezTo>
                    <a:pt x="26966" y="120462"/>
                    <a:pt x="0" y="93496"/>
                    <a:pt x="0" y="60231"/>
                  </a:cubicBezTo>
                  <a:lnTo>
                    <a:pt x="0" y="60231"/>
                  </a:lnTo>
                  <a:cubicBezTo>
                    <a:pt x="0" y="26966"/>
                    <a:pt x="26966" y="0"/>
                    <a:pt x="60231" y="0"/>
                  </a:cubicBezTo>
                  <a:lnTo>
                    <a:pt x="99567" y="0"/>
                  </a:lnTo>
                  <a:cubicBezTo>
                    <a:pt x="132832" y="0"/>
                    <a:pt x="159798" y="26966"/>
                    <a:pt x="159798" y="60231"/>
                  </a:cubicBezTo>
                  <a:close/>
                </a:path>
              </a:pathLst>
            </a:custGeom>
            <a:solidFill>
              <a:srgbClr val="154D71"/>
            </a:solid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59798" cy="177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942109" y="7404332"/>
            <a:ext cx="697705" cy="525944"/>
            <a:chOff x="0" y="0"/>
            <a:chExt cx="159798" cy="1204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9798" cy="120462"/>
            </a:xfrm>
            <a:custGeom>
              <a:avLst/>
              <a:gdLst/>
              <a:ahLst/>
              <a:cxnLst/>
              <a:rect r="r" b="b" t="t" l="l"/>
              <a:pathLst>
                <a:path h="120462" w="159798">
                  <a:moveTo>
                    <a:pt x="159798" y="60231"/>
                  </a:moveTo>
                  <a:lnTo>
                    <a:pt x="159798" y="60231"/>
                  </a:lnTo>
                  <a:cubicBezTo>
                    <a:pt x="159798" y="93496"/>
                    <a:pt x="132832" y="120462"/>
                    <a:pt x="99567" y="120462"/>
                  </a:cubicBezTo>
                  <a:lnTo>
                    <a:pt x="60231" y="120462"/>
                  </a:lnTo>
                  <a:cubicBezTo>
                    <a:pt x="26966" y="120462"/>
                    <a:pt x="0" y="93496"/>
                    <a:pt x="0" y="60231"/>
                  </a:cubicBezTo>
                  <a:lnTo>
                    <a:pt x="0" y="60231"/>
                  </a:lnTo>
                  <a:cubicBezTo>
                    <a:pt x="0" y="26966"/>
                    <a:pt x="26966" y="0"/>
                    <a:pt x="60231" y="0"/>
                  </a:cubicBezTo>
                  <a:lnTo>
                    <a:pt x="99567" y="0"/>
                  </a:lnTo>
                  <a:cubicBezTo>
                    <a:pt x="132832" y="0"/>
                    <a:pt x="159798" y="26966"/>
                    <a:pt x="159798" y="60231"/>
                  </a:cubicBezTo>
                  <a:close/>
                </a:path>
              </a:pathLst>
            </a:custGeom>
            <a:solidFill>
              <a:srgbClr val="FFD848"/>
            </a:solid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59798" cy="177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664358" y="4205549"/>
            <a:ext cx="6517545" cy="5474738"/>
          </a:xfrm>
          <a:custGeom>
            <a:avLst/>
            <a:gdLst/>
            <a:ahLst/>
            <a:cxnLst/>
            <a:rect r="r" b="b" t="t" l="l"/>
            <a:pathLst>
              <a:path h="5474738" w="6517545">
                <a:moveTo>
                  <a:pt x="0" y="0"/>
                </a:moveTo>
                <a:lnTo>
                  <a:pt x="6517545" y="0"/>
                </a:lnTo>
                <a:lnTo>
                  <a:pt x="6517545" y="5474738"/>
                </a:lnTo>
                <a:lnTo>
                  <a:pt x="0" y="5474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4" id="24"/>
          <p:cNvSpPr txBox="true"/>
          <p:nvPr/>
        </p:nvSpPr>
        <p:spPr>
          <a:xfrm rot="0">
            <a:off x="10780728" y="2405026"/>
            <a:ext cx="4673873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520"/>
              </a:lnSpc>
              <a:spcBef>
                <a:spcPct val="0"/>
              </a:spcBef>
            </a:pPr>
            <a:r>
              <a:t>1.0 Manage User Profiles captures credentials, department, and room-level residence coordinates into D1.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80728" y="1601117"/>
            <a:ext cx="4392454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t>D1: Student Information Store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80728" y="5000156"/>
            <a:ext cx="4088727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520"/>
              </a:lnSpc>
              <a:spcBef>
                <a:spcPct val="0"/>
              </a:spcBef>
            </a:pPr>
            <a:r>
              <a:t>2.0 Ingest Symptoms captures fever logs and prescriptions; 3.0 Medical Verification seals doctor approval notes into D2.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780728" y="7541057"/>
            <a:ext cx="4392454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t>4.0 Outbreak Analytics aggregates spatial metrics into D3; 5.0 Notification Dispatch broadcasts targeted cohort alerts.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780728" y="4148399"/>
            <a:ext cx="5554584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t>D2: Medical Record Store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80728" y="6737147"/>
            <a:ext cx="4673873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t>D3: Analyzed Outbreak Store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64358" y="1247657"/>
            <a:ext cx="6138010" cy="269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0"/>
              </a:lnSpc>
            </a:pPr>
            <a:r>
              <a:t>Logical DFD Level 1 &amp; Data Stores</a:t>
            </a:r>
          </a:p>
          <a:p>
            <a:pPr algn="l" marL="0" indent="0" lvl="0">
              <a:lnSpc>
                <a:spcPts val="7040"/>
              </a:lnSpc>
              <a:spcBef>
                <a:spcPct val="0"/>
              </a:spcBef>
            </a:pPr>
          </a:p>
        </p:txBody>
      </p:sp>
      <p:sp>
        <p:nvSpPr>
          <p:cNvPr name="Freeform 31" id="31"/>
          <p:cNvSpPr/>
          <p:nvPr/>
        </p:nvSpPr>
        <p:spPr>
          <a:xfrm flipH="false" flipV="false" rot="145915">
            <a:off x="8202448" y="5104925"/>
            <a:ext cx="1193316" cy="993707"/>
          </a:xfrm>
          <a:custGeom>
            <a:avLst/>
            <a:gdLst/>
            <a:ahLst/>
            <a:cxnLst/>
            <a:rect r="r" b="b" t="t" l="l"/>
            <a:pathLst>
              <a:path h="993707" w="1193316">
                <a:moveTo>
                  <a:pt x="0" y="0"/>
                </a:moveTo>
                <a:lnTo>
                  <a:pt x="1193317" y="0"/>
                </a:lnTo>
                <a:lnTo>
                  <a:pt x="1193317" y="993707"/>
                </a:lnTo>
                <a:lnTo>
                  <a:pt x="0" y="9937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2" id="32"/>
          <p:cNvSpPr/>
          <p:nvPr/>
        </p:nvSpPr>
        <p:spPr>
          <a:xfrm flipH="false" flipV="false" rot="-1015133">
            <a:off x="8796379" y="2794803"/>
            <a:ext cx="833616" cy="694174"/>
          </a:xfrm>
          <a:custGeom>
            <a:avLst/>
            <a:gdLst/>
            <a:ahLst/>
            <a:cxnLst/>
            <a:rect r="r" b="b" t="t" l="l"/>
            <a:pathLst>
              <a:path h="694174" w="833616">
                <a:moveTo>
                  <a:pt x="0" y="0"/>
                </a:moveTo>
                <a:lnTo>
                  <a:pt x="833616" y="0"/>
                </a:lnTo>
                <a:lnTo>
                  <a:pt x="833616" y="694175"/>
                </a:lnTo>
                <a:lnTo>
                  <a:pt x="0" y="6941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7295806">
            <a:off x="-1270819" y="7267992"/>
            <a:ext cx="6847821" cy="4382605"/>
          </a:xfrm>
          <a:custGeom>
            <a:avLst/>
            <a:gdLst/>
            <a:ahLst/>
            <a:cxnLst/>
            <a:rect r="r" b="b" t="t" l="l"/>
            <a:pathLst>
              <a:path h="4382605" w="6847821">
                <a:moveTo>
                  <a:pt x="0" y="4382605"/>
                </a:moveTo>
                <a:lnTo>
                  <a:pt x="6847821" y="4382605"/>
                </a:lnTo>
                <a:lnTo>
                  <a:pt x="6847821" y="0"/>
                </a:lnTo>
                <a:lnTo>
                  <a:pt x="0" y="0"/>
                </a:lnTo>
                <a:lnTo>
                  <a:pt x="0" y="43826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true" rot="10365940">
            <a:off x="-1345895" y="18311"/>
            <a:ext cx="6847821" cy="4382605"/>
          </a:xfrm>
          <a:custGeom>
            <a:avLst/>
            <a:gdLst/>
            <a:ahLst/>
            <a:cxnLst/>
            <a:rect r="r" b="b" t="t" l="l"/>
            <a:pathLst>
              <a:path h="4382605" w="6847821">
                <a:moveTo>
                  <a:pt x="0" y="4382605"/>
                </a:moveTo>
                <a:lnTo>
                  <a:pt x="6847821" y="4382605"/>
                </a:lnTo>
                <a:lnTo>
                  <a:pt x="6847821" y="0"/>
                </a:lnTo>
                <a:lnTo>
                  <a:pt x="0" y="0"/>
                </a:lnTo>
                <a:lnTo>
                  <a:pt x="0" y="43826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false" rot="-5834059">
            <a:off x="7273776" y="-3111762"/>
            <a:ext cx="906879" cy="5799809"/>
          </a:xfrm>
          <a:custGeom>
            <a:avLst/>
            <a:gdLst/>
            <a:ahLst/>
            <a:cxnLst/>
            <a:rect r="r" b="b" t="t" l="l"/>
            <a:pathLst>
              <a:path h="5799809" w="906879">
                <a:moveTo>
                  <a:pt x="906880" y="0"/>
                </a:moveTo>
                <a:lnTo>
                  <a:pt x="0" y="0"/>
                </a:lnTo>
                <a:lnTo>
                  <a:pt x="0" y="5799809"/>
                </a:lnTo>
                <a:lnTo>
                  <a:pt x="906880" y="5799809"/>
                </a:lnTo>
                <a:lnTo>
                  <a:pt x="90688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4044037" y="1453108"/>
            <a:ext cx="11608701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  <a:spcBef>
                <a:spcPct val="0"/>
              </a:spcBef>
            </a:pPr>
            <a:r>
              <a:t>Prototype: Student Profile Registration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80947" y="7287001"/>
            <a:ext cx="3319246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t>Selecting 'Resident' dynamically reveals Dorm Building &amp; Room fields; 'Non-Resident' hides them.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96374" y="6264017"/>
            <a:ext cx="2688393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t>Dynamic UI Controls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84637" y="6264017"/>
            <a:ext cx="332750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t>Regex Validation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98038" y="7287001"/>
            <a:ext cx="3668607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t>Form auto-shakes and focuses the first invalid field upon failed submission.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17586" y="6264017"/>
            <a:ext cx="322951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t>Error Recovery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14799" y="7287001"/>
            <a:ext cx="3267179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t>Enforces institutional email format (@iut-dhaka.edu) and phone formatting at point of capture.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46129" y="5307707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1D1D1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53946" y="5307707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1D1D1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37900" y="5307707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758538">
            <a:off x="16342580" y="690621"/>
            <a:ext cx="1207525" cy="1005539"/>
          </a:xfrm>
          <a:custGeom>
            <a:avLst/>
            <a:gdLst/>
            <a:ahLst/>
            <a:cxnLst/>
            <a:rect r="r" b="b" t="t" l="l"/>
            <a:pathLst>
              <a:path h="1005539" w="1207525">
                <a:moveTo>
                  <a:pt x="0" y="0"/>
                </a:moveTo>
                <a:lnTo>
                  <a:pt x="1207526" y="0"/>
                </a:lnTo>
                <a:lnTo>
                  <a:pt x="1207526" y="1005540"/>
                </a:lnTo>
                <a:lnTo>
                  <a:pt x="0" y="10055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-1239821">
            <a:off x="4477242" y="1564568"/>
            <a:ext cx="1126657" cy="938198"/>
          </a:xfrm>
          <a:custGeom>
            <a:avLst/>
            <a:gdLst/>
            <a:ahLst/>
            <a:cxnLst/>
            <a:rect r="r" b="b" t="t" l="l"/>
            <a:pathLst>
              <a:path h="938198" w="1126657">
                <a:moveTo>
                  <a:pt x="0" y="0"/>
                </a:moveTo>
                <a:lnTo>
                  <a:pt x="1126656" y="0"/>
                </a:lnTo>
                <a:lnTo>
                  <a:pt x="1126656" y="938198"/>
                </a:lnTo>
                <a:lnTo>
                  <a:pt x="0" y="9381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pic>
        <p:nvPicPr>
          <p:cNvPr id="17" name="Picture 16" descr="student_profile_registrat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2926080"/>
            <a:ext cx="7772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5093800" y="4127059"/>
            <a:ext cx="766457" cy="4901760"/>
          </a:xfrm>
          <a:custGeom>
            <a:avLst/>
            <a:gdLst/>
            <a:ahLst/>
            <a:cxnLst/>
            <a:rect r="r" b="b" t="t" l="l"/>
            <a:pathLst>
              <a:path h="4901760" w="766457">
                <a:moveTo>
                  <a:pt x="0" y="0"/>
                </a:moveTo>
                <a:lnTo>
                  <a:pt x="766457" y="0"/>
                </a:lnTo>
                <a:lnTo>
                  <a:pt x="766457" y="4901761"/>
                </a:lnTo>
                <a:lnTo>
                  <a:pt x="0" y="49017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5400000">
            <a:off x="784902" y="4127059"/>
            <a:ext cx="766457" cy="4901760"/>
          </a:xfrm>
          <a:custGeom>
            <a:avLst/>
            <a:gdLst/>
            <a:ahLst/>
            <a:cxnLst/>
            <a:rect r="r" b="b" t="t" l="l"/>
            <a:pathLst>
              <a:path h="4901760" w="766457">
                <a:moveTo>
                  <a:pt x="0" y="0"/>
                </a:moveTo>
                <a:lnTo>
                  <a:pt x="766457" y="0"/>
                </a:lnTo>
                <a:lnTo>
                  <a:pt x="766457" y="4901761"/>
                </a:lnTo>
                <a:lnTo>
                  <a:pt x="0" y="49017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-5400000">
            <a:off x="7382489" y="2667464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5400000">
            <a:off x="5093800" y="420908"/>
            <a:ext cx="766457" cy="4901760"/>
          </a:xfrm>
          <a:custGeom>
            <a:avLst/>
            <a:gdLst/>
            <a:ahLst/>
            <a:cxnLst/>
            <a:rect r="r" b="b" t="t" l="l"/>
            <a:pathLst>
              <a:path h="4901760" w="766457">
                <a:moveTo>
                  <a:pt x="0" y="0"/>
                </a:moveTo>
                <a:lnTo>
                  <a:pt x="766457" y="0"/>
                </a:lnTo>
                <a:lnTo>
                  <a:pt x="766457" y="4901760"/>
                </a:lnTo>
                <a:lnTo>
                  <a:pt x="0" y="4901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5400000">
            <a:off x="784902" y="420908"/>
            <a:ext cx="766457" cy="4901760"/>
          </a:xfrm>
          <a:custGeom>
            <a:avLst/>
            <a:gdLst/>
            <a:ahLst/>
            <a:cxnLst/>
            <a:rect r="r" b="b" t="t" l="l"/>
            <a:pathLst>
              <a:path h="4901760" w="766457">
                <a:moveTo>
                  <a:pt x="0" y="0"/>
                </a:moveTo>
                <a:lnTo>
                  <a:pt x="766457" y="0"/>
                </a:lnTo>
                <a:lnTo>
                  <a:pt x="766457" y="4901760"/>
                </a:lnTo>
                <a:lnTo>
                  <a:pt x="0" y="4901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6890922" y="5951085"/>
            <a:ext cx="1340943" cy="134094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848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90922" y="2103110"/>
            <a:ext cx="1340943" cy="134094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848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81636" y="2103110"/>
            <a:ext cx="1340943" cy="134094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4D71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981636" y="5951085"/>
            <a:ext cx="1340943" cy="134094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848"/>
            </a:solid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225671" y="6250779"/>
            <a:ext cx="671445" cy="741556"/>
          </a:xfrm>
          <a:custGeom>
            <a:avLst/>
            <a:gdLst/>
            <a:ahLst/>
            <a:cxnLst/>
            <a:rect r="r" b="b" t="t" l="l"/>
            <a:pathLst>
              <a:path h="741556" w="671445">
                <a:moveTo>
                  <a:pt x="0" y="0"/>
                </a:moveTo>
                <a:lnTo>
                  <a:pt x="671445" y="0"/>
                </a:lnTo>
                <a:lnTo>
                  <a:pt x="671445" y="741555"/>
                </a:lnTo>
                <a:lnTo>
                  <a:pt x="0" y="7415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0" id="20"/>
          <p:cNvSpPr/>
          <p:nvPr/>
        </p:nvSpPr>
        <p:spPr>
          <a:xfrm flipH="false" flipV="false" rot="0">
            <a:off x="2281330" y="6250779"/>
            <a:ext cx="741556" cy="741556"/>
          </a:xfrm>
          <a:custGeom>
            <a:avLst/>
            <a:gdLst/>
            <a:ahLst/>
            <a:cxnLst/>
            <a:rect r="r" b="b" t="t" l="l"/>
            <a:pathLst>
              <a:path h="741556" w="741556">
                <a:moveTo>
                  <a:pt x="0" y="0"/>
                </a:moveTo>
                <a:lnTo>
                  <a:pt x="741556" y="0"/>
                </a:lnTo>
                <a:lnTo>
                  <a:pt x="741556" y="741555"/>
                </a:lnTo>
                <a:lnTo>
                  <a:pt x="0" y="741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false" rot="0">
            <a:off x="11592565" y="3444053"/>
            <a:ext cx="6221639" cy="6153766"/>
          </a:xfrm>
          <a:custGeom>
            <a:avLst/>
            <a:gdLst/>
            <a:ahLst/>
            <a:cxnLst/>
            <a:rect r="r" b="b" t="t" l="l"/>
            <a:pathLst>
              <a:path h="6153766" w="6221639">
                <a:moveTo>
                  <a:pt x="0" y="0"/>
                </a:moveTo>
                <a:lnTo>
                  <a:pt x="6221639" y="0"/>
                </a:lnTo>
                <a:lnTo>
                  <a:pt x="6221639" y="6153766"/>
                </a:lnTo>
                <a:lnTo>
                  <a:pt x="0" y="61537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2" id="22"/>
          <p:cNvSpPr/>
          <p:nvPr/>
        </p:nvSpPr>
        <p:spPr>
          <a:xfrm flipH="false" flipV="false" rot="145915">
            <a:off x="16662642" y="7675284"/>
            <a:ext cx="1193316" cy="993707"/>
          </a:xfrm>
          <a:custGeom>
            <a:avLst/>
            <a:gdLst/>
            <a:ahLst/>
            <a:cxnLst/>
            <a:rect r="r" b="b" t="t" l="l"/>
            <a:pathLst>
              <a:path h="993707" w="1193316">
                <a:moveTo>
                  <a:pt x="0" y="0"/>
                </a:moveTo>
                <a:lnTo>
                  <a:pt x="1193316" y="0"/>
                </a:lnTo>
                <a:lnTo>
                  <a:pt x="1193316" y="993707"/>
                </a:lnTo>
                <a:lnTo>
                  <a:pt x="0" y="9937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3" id="23"/>
          <p:cNvSpPr/>
          <p:nvPr/>
        </p:nvSpPr>
        <p:spPr>
          <a:xfrm flipH="false" flipV="false" rot="-1015133">
            <a:off x="10161005" y="1551779"/>
            <a:ext cx="833616" cy="694174"/>
          </a:xfrm>
          <a:custGeom>
            <a:avLst/>
            <a:gdLst/>
            <a:ahLst/>
            <a:cxnLst/>
            <a:rect r="r" b="b" t="t" l="l"/>
            <a:pathLst>
              <a:path h="694174" w="833616">
                <a:moveTo>
                  <a:pt x="0" y="0"/>
                </a:moveTo>
                <a:lnTo>
                  <a:pt x="833615" y="0"/>
                </a:lnTo>
                <a:lnTo>
                  <a:pt x="833615" y="694175"/>
                </a:lnTo>
                <a:lnTo>
                  <a:pt x="0" y="6941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4" id="24"/>
          <p:cNvSpPr/>
          <p:nvPr/>
        </p:nvSpPr>
        <p:spPr>
          <a:xfrm flipH="false" flipV="false" rot="0">
            <a:off x="2158087" y="2292353"/>
            <a:ext cx="988041" cy="858488"/>
          </a:xfrm>
          <a:custGeom>
            <a:avLst/>
            <a:gdLst/>
            <a:ahLst/>
            <a:cxnLst/>
            <a:rect r="r" b="b" t="t" l="l"/>
            <a:pathLst>
              <a:path h="858488" w="988041">
                <a:moveTo>
                  <a:pt x="0" y="0"/>
                </a:moveTo>
                <a:lnTo>
                  <a:pt x="988041" y="0"/>
                </a:lnTo>
                <a:lnTo>
                  <a:pt x="988041" y="858487"/>
                </a:lnTo>
                <a:lnTo>
                  <a:pt x="0" y="85848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5" id="25"/>
          <p:cNvSpPr/>
          <p:nvPr/>
        </p:nvSpPr>
        <p:spPr>
          <a:xfrm flipH="false" flipV="false" rot="0">
            <a:off x="7243493" y="2361659"/>
            <a:ext cx="684416" cy="823845"/>
          </a:xfrm>
          <a:custGeom>
            <a:avLst/>
            <a:gdLst/>
            <a:ahLst/>
            <a:cxnLst/>
            <a:rect r="r" b="b" t="t" l="l"/>
            <a:pathLst>
              <a:path h="823845" w="684416">
                <a:moveTo>
                  <a:pt x="0" y="0"/>
                </a:moveTo>
                <a:lnTo>
                  <a:pt x="684416" y="0"/>
                </a:lnTo>
                <a:lnTo>
                  <a:pt x="684416" y="823845"/>
                </a:lnTo>
                <a:lnTo>
                  <a:pt x="0" y="8238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6" id="26"/>
          <p:cNvSpPr txBox="true"/>
          <p:nvPr/>
        </p:nvSpPr>
        <p:spPr>
          <a:xfrm rot="0">
            <a:off x="948380" y="7425378"/>
            <a:ext cx="340745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t>Dropzone Upload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90299" y="4484355"/>
            <a:ext cx="3742188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t>Multi-select chips (Fever, Cough, Rash, Fatigue) for standardized clinical taxonomy.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597146" y="8303895"/>
            <a:ext cx="3928494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t>Immediate submission tracking token generated upon successful symptom ingest.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718365" y="3605837"/>
            <a:ext cx="368605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t>Symptom Chips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24080" y="7425378"/>
            <a:ext cx="347462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t>Instant Token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8004" y="4459575"/>
            <a:ext cx="3468207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t>1-10 pain/severity slider allowing students to rate illness dynamically.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8004" y="8303895"/>
            <a:ext cx="3468207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t>Drag-and-drop uploader for PDF/JPG medical slips (&lt;5MB) with mandatory upload on severe cases.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29707" y="3579465"/>
            <a:ext cx="364480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t>Severity Slider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676193" y="1059081"/>
            <a:ext cx="6138010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t>Prototype: External Symptom Submission</a:t>
            </a:r>
          </a:p>
        </p:txBody>
      </p:sp>
      <p:pic>
        <p:nvPicPr>
          <p:cNvPr id="35" name="Picture 34" descr="symptom_repor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4400" y="2926080"/>
            <a:ext cx="7772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7295806">
            <a:off x="-1270819" y="7267992"/>
            <a:ext cx="6847821" cy="4382605"/>
          </a:xfrm>
          <a:custGeom>
            <a:avLst/>
            <a:gdLst/>
            <a:ahLst/>
            <a:cxnLst/>
            <a:rect r="r" b="b" t="t" l="l"/>
            <a:pathLst>
              <a:path h="4382605" w="6847821">
                <a:moveTo>
                  <a:pt x="0" y="4382605"/>
                </a:moveTo>
                <a:lnTo>
                  <a:pt x="6847821" y="4382605"/>
                </a:lnTo>
                <a:lnTo>
                  <a:pt x="6847821" y="0"/>
                </a:lnTo>
                <a:lnTo>
                  <a:pt x="0" y="0"/>
                </a:lnTo>
                <a:lnTo>
                  <a:pt x="0" y="43826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true" rot="10365940">
            <a:off x="-1345895" y="18311"/>
            <a:ext cx="6847821" cy="4382605"/>
          </a:xfrm>
          <a:custGeom>
            <a:avLst/>
            <a:gdLst/>
            <a:ahLst/>
            <a:cxnLst/>
            <a:rect r="r" b="b" t="t" l="l"/>
            <a:pathLst>
              <a:path h="4382605" w="6847821">
                <a:moveTo>
                  <a:pt x="0" y="4382605"/>
                </a:moveTo>
                <a:lnTo>
                  <a:pt x="6847821" y="4382605"/>
                </a:lnTo>
                <a:lnTo>
                  <a:pt x="6847821" y="0"/>
                </a:lnTo>
                <a:lnTo>
                  <a:pt x="0" y="0"/>
                </a:lnTo>
                <a:lnTo>
                  <a:pt x="0" y="43826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false" rot="-5834059">
            <a:off x="7273776" y="-3111762"/>
            <a:ext cx="906879" cy="5799809"/>
          </a:xfrm>
          <a:custGeom>
            <a:avLst/>
            <a:gdLst/>
            <a:ahLst/>
            <a:cxnLst/>
            <a:rect r="r" b="b" t="t" l="l"/>
            <a:pathLst>
              <a:path h="5799809" w="906879">
                <a:moveTo>
                  <a:pt x="906880" y="0"/>
                </a:moveTo>
                <a:lnTo>
                  <a:pt x="0" y="0"/>
                </a:lnTo>
                <a:lnTo>
                  <a:pt x="0" y="5799809"/>
                </a:lnTo>
                <a:lnTo>
                  <a:pt x="906880" y="5799809"/>
                </a:lnTo>
                <a:lnTo>
                  <a:pt x="90688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4044037" y="1453108"/>
            <a:ext cx="11608701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  <a:spcBef>
                <a:spcPct val="0"/>
              </a:spcBef>
            </a:pPr>
            <a:r>
              <a:t>Prototype: Medical Record Verification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96374" y="6264017"/>
            <a:ext cx="2688393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t>Dual-Pane Triage: Left pane lists pending student cases; right pane displays prescription viewer and student history.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84637" y="6264017"/>
            <a:ext cx="3327501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t>Decision Triggers: One-click actions for 'Approve &amp; Grant Leave', 'Needs Info', or 'Reject' with mandatory notes.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17586" y="6264017"/>
            <a:ext cx="3229512" cy="297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t>Audit Logging: Verified decisions are permanently sealed into D2 with physician digital signature and timestamps.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46129" y="5307707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1D1D1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53946" y="5307707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1D1D1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37900" y="5307707"/>
            <a:ext cx="1188883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758538">
            <a:off x="16342580" y="690621"/>
            <a:ext cx="1207525" cy="1005539"/>
          </a:xfrm>
          <a:custGeom>
            <a:avLst/>
            <a:gdLst/>
            <a:ahLst/>
            <a:cxnLst/>
            <a:rect r="r" b="b" t="t" l="l"/>
            <a:pathLst>
              <a:path h="1005539" w="1207525">
                <a:moveTo>
                  <a:pt x="0" y="0"/>
                </a:moveTo>
                <a:lnTo>
                  <a:pt x="1207526" y="0"/>
                </a:lnTo>
                <a:lnTo>
                  <a:pt x="1207526" y="1005540"/>
                </a:lnTo>
                <a:lnTo>
                  <a:pt x="0" y="10055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-1239821">
            <a:off x="4477242" y="1564568"/>
            <a:ext cx="1126657" cy="938198"/>
          </a:xfrm>
          <a:custGeom>
            <a:avLst/>
            <a:gdLst/>
            <a:ahLst/>
            <a:cxnLst/>
            <a:rect r="r" b="b" t="t" l="l"/>
            <a:pathLst>
              <a:path h="938198" w="1126657">
                <a:moveTo>
                  <a:pt x="0" y="0"/>
                </a:moveTo>
                <a:lnTo>
                  <a:pt x="1126656" y="0"/>
                </a:lnTo>
                <a:lnTo>
                  <a:pt x="1126656" y="938198"/>
                </a:lnTo>
                <a:lnTo>
                  <a:pt x="0" y="9381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4044037" y="3142917"/>
            <a:ext cx="12403061" cy="150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t>Doctor Triage Efficiency: Reduces verification time from 10 minutes of manual paperwork to under 60 seconds.</a:t>
            </a: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Put more emphasis on their health and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Ensure the safety of all students in the campus</a:t>
            </a:r>
          </a:p>
        </p:txBody>
      </p:sp>
      <p:pic>
        <p:nvPicPr>
          <p:cNvPr id="15" name="Picture 14" descr="record_verificat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2926080"/>
            <a:ext cx="7772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7295806">
            <a:off x="-1270819" y="7267992"/>
            <a:ext cx="6847821" cy="4382605"/>
          </a:xfrm>
          <a:custGeom>
            <a:avLst/>
            <a:gdLst/>
            <a:ahLst/>
            <a:cxnLst/>
            <a:rect r="r" b="b" t="t" l="l"/>
            <a:pathLst>
              <a:path h="4382605" w="6847821">
                <a:moveTo>
                  <a:pt x="0" y="4382605"/>
                </a:moveTo>
                <a:lnTo>
                  <a:pt x="6847821" y="4382605"/>
                </a:lnTo>
                <a:lnTo>
                  <a:pt x="6847821" y="0"/>
                </a:lnTo>
                <a:lnTo>
                  <a:pt x="0" y="0"/>
                </a:lnTo>
                <a:lnTo>
                  <a:pt x="0" y="43826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0365940">
            <a:off x="-1345895" y="18311"/>
            <a:ext cx="6847821" cy="4382605"/>
          </a:xfrm>
          <a:custGeom>
            <a:avLst/>
            <a:gdLst/>
            <a:ahLst/>
            <a:cxnLst/>
            <a:rect r="r" b="b" t="t" l="l"/>
            <a:pathLst>
              <a:path h="4382605" w="6847821">
                <a:moveTo>
                  <a:pt x="0" y="4382605"/>
                </a:moveTo>
                <a:lnTo>
                  <a:pt x="6847821" y="4382605"/>
                </a:lnTo>
                <a:lnTo>
                  <a:pt x="6847821" y="0"/>
                </a:lnTo>
                <a:lnTo>
                  <a:pt x="0" y="0"/>
                </a:lnTo>
                <a:lnTo>
                  <a:pt x="0" y="43826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834059">
            <a:off x="7273776" y="-3111762"/>
            <a:ext cx="906879" cy="5799809"/>
          </a:xfrm>
          <a:custGeom>
            <a:avLst/>
            <a:gdLst/>
            <a:ahLst/>
            <a:cxnLst/>
            <a:rect r="r" b="b" t="t" l="l"/>
            <a:pathLst>
              <a:path h="5799809" w="906879">
                <a:moveTo>
                  <a:pt x="906880" y="0"/>
                </a:moveTo>
                <a:lnTo>
                  <a:pt x="0" y="0"/>
                </a:lnTo>
                <a:lnTo>
                  <a:pt x="0" y="5799809"/>
                </a:lnTo>
                <a:lnTo>
                  <a:pt x="906880" y="5799809"/>
                </a:lnTo>
                <a:lnTo>
                  <a:pt x="90688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89401" y="4557476"/>
            <a:ext cx="13709198" cy="2411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0"/>
              </a:lnSpc>
            </a:pPr>
          </a:p>
          <a:p>
            <a:pPr algn="ctr">
              <a:lnSpc>
                <a:spcPts val="8800"/>
              </a:lnSpc>
            </a:pPr>
            <a:r>
              <a:rPr lang="en-US" sz="8000" b="true">
                <a:solidFill>
                  <a:srgbClr val="1D1D1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 For Being With Us</a:t>
            </a:r>
          </a:p>
          <a:p>
            <a:pPr algn="ctr" marL="0" indent="0" lvl="0">
              <a:lnSpc>
                <a:spcPts val="5060"/>
              </a:lnSpc>
              <a:spcBef>
                <a:spcPct val="0"/>
              </a:spcBef>
            </a:pPr>
            <a:r>
              <a:rPr lang="en-US" b="true" sz="4600">
                <a:solidFill>
                  <a:srgbClr val="1D1D1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Feel Free to Ask Any Questions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758538">
            <a:off x="15080541" y="4018008"/>
            <a:ext cx="1207525" cy="1005539"/>
          </a:xfrm>
          <a:custGeom>
            <a:avLst/>
            <a:gdLst/>
            <a:ahLst/>
            <a:cxnLst/>
            <a:rect r="r" b="b" t="t" l="l"/>
            <a:pathLst>
              <a:path h="1005539" w="1207525">
                <a:moveTo>
                  <a:pt x="0" y="0"/>
                </a:moveTo>
                <a:lnTo>
                  <a:pt x="1207525" y="0"/>
                </a:lnTo>
                <a:lnTo>
                  <a:pt x="1207525" y="1005540"/>
                </a:lnTo>
                <a:lnTo>
                  <a:pt x="0" y="10055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239821">
            <a:off x="1308317" y="4478705"/>
            <a:ext cx="1126657" cy="938198"/>
          </a:xfrm>
          <a:custGeom>
            <a:avLst/>
            <a:gdLst/>
            <a:ahLst/>
            <a:cxnLst/>
            <a:rect r="r" b="b" t="t" l="l"/>
            <a:pathLst>
              <a:path h="938198" w="1126657">
                <a:moveTo>
                  <a:pt x="0" y="0"/>
                </a:moveTo>
                <a:lnTo>
                  <a:pt x="1126657" y="0"/>
                </a:lnTo>
                <a:lnTo>
                  <a:pt x="1126657" y="938198"/>
                </a:lnTo>
                <a:lnTo>
                  <a:pt x="0" y="9381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10365940">
            <a:off x="12574688" y="6858894"/>
            <a:ext cx="6847821" cy="4382605"/>
          </a:xfrm>
          <a:custGeom>
            <a:avLst/>
            <a:gdLst/>
            <a:ahLst/>
            <a:cxnLst/>
            <a:rect r="r" b="b" t="t" l="l"/>
            <a:pathLst>
              <a:path h="4382605" w="6847821">
                <a:moveTo>
                  <a:pt x="0" y="4382605"/>
                </a:moveTo>
                <a:lnTo>
                  <a:pt x="6847821" y="4382605"/>
                </a:lnTo>
                <a:lnTo>
                  <a:pt x="6847821" y="0"/>
                </a:lnTo>
                <a:lnTo>
                  <a:pt x="0" y="0"/>
                </a:lnTo>
                <a:lnTo>
                  <a:pt x="0" y="43826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58538">
            <a:off x="5728619" y="3125681"/>
            <a:ext cx="1954932" cy="1627925"/>
          </a:xfrm>
          <a:custGeom>
            <a:avLst/>
            <a:gdLst/>
            <a:ahLst/>
            <a:cxnLst/>
            <a:rect r="r" b="b" t="t" l="l"/>
            <a:pathLst>
              <a:path h="1627925" w="1954932">
                <a:moveTo>
                  <a:pt x="0" y="0"/>
                </a:moveTo>
                <a:lnTo>
                  <a:pt x="1954932" y="0"/>
                </a:lnTo>
                <a:lnTo>
                  <a:pt x="1954932" y="1627925"/>
                </a:lnTo>
                <a:lnTo>
                  <a:pt x="0" y="16279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DAHID3rcWTM</dc:identifier>
  <dcterms:modified xsi:type="dcterms:W3CDTF">2011-08-01T06:04:30Z</dcterms:modified>
  <cp:revision>1</cp:revision>
  <dc:title>1A_113_139_143_153</dc:title>
</cp:coreProperties>
</file>